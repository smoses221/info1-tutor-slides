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33" dt="2026-09-21T16:33:48.181"/>
    <p1510:client id="{E81FDD6A-E19C-5662-9005-AE0DD1318AC0}" v="51" dt="2026-09-22T08:56:38.8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75088E-8A3D-4458-96A0-1EC26BDB8C92}" type="datetimeFigureOut"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4911A-BE38-4DC1-AAEB-1641BA54290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29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INFO1 Mission 1 (S2)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9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Jean-Luc Bibaud</a:t>
            </a:r>
            <a:endParaRPr lang="en-US" sz="2400" dirty="0"/>
          </a:p>
        </p:txBody>
      </p:sp>
      <p:pic>
        <p:nvPicPr>
          <p:cNvPr id="7" name="Image 0" descr="/home/claude/work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89320"/>
            <a:ext cx="1554480" cy="4846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Thonny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400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488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Thonny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sng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https://thonny.org/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6400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39319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Binding INGInious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43484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u="sng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https://syllabus-interactif.info.ucl.ac.be/syllabus/info1-exercises/PART_I/MISSION_1/preparation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0" y="1965960"/>
            <a:ext cx="4053535" cy="3886200"/>
          </a:xfrm>
          <a:prstGeom prst="roundRect">
            <a:avLst>
              <a:gd name="adj" fmla="val 2353"/>
            </a:avLst>
          </a:prstGeom>
          <a:solidFill>
            <a:srgbClr val="1B2A4A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18120" y="2194560"/>
            <a:ext cx="3413455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kern="0" spc="100" dirty="0">
                <a:solidFill>
                  <a:srgbClr val="F2B705"/>
                </a:solidFill>
                <a:ea typeface="Calibri"/>
                <a:cs typeface="Calibri"/>
              </a:rPr>
              <a:t>Missing from </a:t>
            </a:r>
            <a:r>
              <a:rPr lang="en-US" sz="1500" b="1" kern="0" spc="100" dirty="0" err="1">
                <a:solidFill>
                  <a:srgbClr val="F2B705"/>
                </a:solidFill>
                <a:ea typeface="Calibri"/>
                <a:cs typeface="Calibri"/>
              </a:rPr>
              <a:t>inginious</a:t>
            </a:r>
            <a:r>
              <a:rPr lang="en-US" sz="1500" b="1" kern="0" spc="100" dirty="0">
                <a:solidFill>
                  <a:srgbClr val="F2B705"/>
                </a:solidFill>
                <a:ea typeface="Calibri"/>
                <a:cs typeface="Calibri"/>
              </a:rPr>
              <a:t> class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INFO1 · Mission 1 (S2) · Jean-Luc Bibaud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Python?</a:t>
            </a:r>
            <a:endParaRPr lang="en-US" sz="4000" dirty="0"/>
          </a:p>
        </p:txBody>
      </p:sp>
      <p:pic>
        <p:nvPicPr>
          <p:cNvPr id="4" name="Image 0" descr="/home/claude/work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175" y="868680"/>
            <a:ext cx="2377440" cy="7406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920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 are a way of telling the computer what to do.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83768" y="306324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020928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code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3901288" y="3063240"/>
            <a:ext cx="685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587088" y="306324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724248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Interpreter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724248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9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(→ Python VM)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604608" y="3063240"/>
            <a:ext cx="685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8290408" y="306324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427568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code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427568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humanly unreadable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</a:t>
            </a: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simpler to write</a:t>
            </a:r>
            <a:r>
              <a:rPr lang="en-US" sz="2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(gets translated to lower level for executing)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INFO1 · Mission 1 (S2) · Jean-Luc Bibaud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2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05C28943-0235-CAFF-4BDD-6CFCC4274E17}"/>
              </a:ext>
            </a:extLst>
          </p:cNvPr>
          <p:cNvSpPr txBox="1"/>
          <p:nvPr/>
        </p:nvSpPr>
        <p:spPr>
          <a:xfrm>
            <a:off x="1020928" y="3921760"/>
            <a:ext cx="2743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humanly readable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VALUES &amp; DATA TYPES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194408" y="1874520"/>
            <a:ext cx="7741920" cy="812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4800" b="1" dirty="0">
                <a:solidFill>
                  <a:srgbClr val="2B6CB0"/>
                </a:solidFill>
                <a:latin typeface="Courier New"/>
                <a:ea typeface="Courier New" pitchFamily="34" charset="-122"/>
                <a:cs typeface="Courier New"/>
              </a:rPr>
              <a:t>x</a:t>
            </a:r>
            <a:r>
              <a:rPr lang="en-US" sz="4800" b="1" dirty="0">
                <a:solidFill>
                  <a:srgbClr val="E8A400"/>
                </a:solidFill>
                <a:latin typeface="Courier New"/>
                <a:ea typeface="Courier New" pitchFamily="34" charset="-122"/>
                <a:cs typeface="Courier New"/>
              </a:rPr>
              <a:t>      =      </a:t>
            </a:r>
            <a:r>
              <a:rPr lang="en-US" sz="4800" b="1" dirty="0">
                <a:solidFill>
                  <a:srgbClr val="1F9D55"/>
                </a:solidFill>
                <a:latin typeface="Courier New"/>
                <a:ea typeface="Courier New" pitchFamily="34" charset="-122"/>
                <a:cs typeface="Courier New"/>
              </a:rPr>
              <a:t>5</a:t>
            </a:r>
            <a:endParaRPr lang="en-US" sz="4800" dirty="0">
              <a:latin typeface="Courier New"/>
              <a:cs typeface="Courier New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26968" y="2697480"/>
            <a:ext cx="0" cy="32004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29688" y="3017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name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5848" y="2697480"/>
            <a:ext cx="0" cy="320040"/>
          </a:xfrm>
          <a:prstGeom prst="line">
            <a:avLst/>
          </a:prstGeom>
          <a:noFill/>
          <a:ln w="25400">
            <a:solidFill>
              <a:srgbClr val="E8A4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52848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64728" y="2697480"/>
            <a:ext cx="0" cy="320040"/>
          </a:xfrm>
          <a:prstGeom prst="line">
            <a:avLst/>
          </a:prstGeom>
          <a:noFill/>
          <a:ln w="25400">
            <a:solidFill>
              <a:srgbClr val="1F9D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13168" y="3017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94760"/>
            <a:ext cx="256032" cy="435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3794760"/>
            <a:ext cx="10625328" cy="435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is important </a:t>
            </a:r>
            <a:r>
              <a:rPr lang="en-US" sz="2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(cannot be value-assignment-name)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459224"/>
            <a:ext cx="256032" cy="435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459224"/>
            <a:ext cx="10625328" cy="435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names should </a:t>
            </a: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2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 keywords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123688"/>
            <a:ext cx="256032" cy="435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5123688"/>
            <a:ext cx="10625328" cy="435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are mutable and can </a:t>
            </a:r>
            <a:r>
              <a:rPr lang="en-US" sz="2400" b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788152"/>
            <a:ext cx="256032" cy="435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788152"/>
            <a:ext cx="10625328" cy="435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are automatically </a:t>
            </a:r>
            <a:r>
              <a:rPr lang="en-US" sz="2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</a:t>
            </a:r>
            <a:r>
              <a:rPr lang="en-US" sz="2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DECLARED</a:t>
            </a:r>
            <a:r>
              <a:rPr lang="en-US" sz="2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(see next slide)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INFO1 · Mission 1 (S2) · Jean-Luc Bibaud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VALUES &amp; DATA TYPES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 &amp; Types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i="1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Example with inferred type.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3749040"/>
          </a:xfrm>
          <a:prstGeom prst="roundRect">
            <a:avLst>
              <a:gd name="adj" fmla="val 2439"/>
            </a:avLst>
          </a:prstGeom>
          <a:solidFill>
            <a:srgbClr val="16213E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88720" y="2697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697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#int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4747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3.14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474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#float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2519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"Ada"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4251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#string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50292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is_ready = True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5029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#boolean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INFO1 · Mission 1 (S2) · Jean-Luc Bibaud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9" grpId="1" animBg="1"/>
      <p:bldP spid="10" grpId="0" animBg="1"/>
      <p:bldP spid="11" grpId="0"/>
      <p:bldP spid="11" grpId="1" animBg="1"/>
      <p:bldP spid="12" grpId="0" animBg="1"/>
      <p:bldP spid="13" grpId="0"/>
      <p:bldP spid="1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&amp; OPERATORS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Expressions &amp; Operators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66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46177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 b="1" dirty="0">
                <a:solidFill>
                  <a:srgbClr val="16213E"/>
                </a:solidFill>
                <a:latin typeface="Cambria"/>
                <a:ea typeface="Cambria"/>
                <a:cs typeface="Cambria" pitchFamily="34" charset="-120"/>
              </a:rPr>
              <a:t>PEMDAS... but use parentheses</a:t>
            </a:r>
            <a:endParaRPr lang="en-US" sz="2200" dirty="0">
              <a:latin typeface="Cambria"/>
              <a:ea typeface="Cambri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4617720" cy="914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43000" y="2971800"/>
            <a:ext cx="41605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 + 5 – 3 * 5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490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parentheses to remove confusion about order of operations.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166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29400" y="21945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Right-hand side evaluated first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629400" y="2743200"/>
            <a:ext cx="4617720" cy="914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12280" y="29260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331012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E6EDF3"/>
                </a:solidFill>
                <a:latin typeface="Courier New"/>
                <a:ea typeface="Courier New" pitchFamily="34" charset="-122"/>
                <a:cs typeface="Courier New"/>
              </a:rPr>
              <a:t>X = x + 2</a:t>
            </a:r>
            <a:endParaRPr lang="en-US" sz="2000" dirty="0">
              <a:latin typeface="Courier New"/>
              <a:cs typeface="Courier New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629400" y="37490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side is computed first, then stored.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CEED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572000"/>
            <a:ext cx="1024128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 dirty="0">
                <a:solidFill>
                  <a:srgbClr val="B7791F"/>
                </a:solidFill>
              </a:rPr>
              <a:t>!  </a:t>
            </a:r>
            <a:r>
              <a:rPr lang="en-US" sz="2000" dirty="0">
                <a:solidFill>
                  <a:srgbClr val="16213E"/>
                </a:solidFill>
              </a:rPr>
              <a:t>Operators can </a:t>
            </a:r>
            <a:r>
              <a:rPr lang="en-US" sz="2000" b="1" dirty="0">
                <a:solidFill>
                  <a:srgbClr val="B7791F"/>
                </a:solidFill>
              </a:rPr>
              <a:t>CHANGE your type</a:t>
            </a:r>
            <a:r>
              <a:rPr lang="en-US" sz="2000" dirty="0">
                <a:solidFill>
                  <a:srgbClr val="16213E"/>
                </a:solidFill>
              </a:rPr>
              <a:t> without explicitly telling you:  </a:t>
            </a:r>
            <a:br>
              <a:rPr lang="en-US" sz="2000" dirty="0">
                <a:solidFill>
                  <a:srgbClr val="16213E"/>
                </a:solidFill>
                <a:latin typeface="Calibri"/>
                <a:ea typeface="Calibri"/>
                <a:cs typeface="Calibri"/>
              </a:rPr>
            </a:br>
            <a:r>
              <a:rPr lang="en-US" sz="2000" dirty="0">
                <a:solidFill>
                  <a:srgbClr val="16213E"/>
                </a:solidFill>
                <a:latin typeface="Courier New"/>
                <a:ea typeface="Courier New" pitchFamily="34" charset="-122"/>
                <a:cs typeface="Courier New"/>
              </a:rPr>
              <a:t>X = 7 / 4</a:t>
            </a:r>
            <a:r>
              <a:rPr lang="en-US" sz="2000" dirty="0">
                <a:solidFill>
                  <a:srgbClr val="4A5568"/>
                </a:solidFill>
                <a:latin typeface="Courier New"/>
                <a:ea typeface="Courier New" pitchFamily="34" charset="-122"/>
                <a:cs typeface="Courier New"/>
              </a:rPr>
              <a:t>  # x is now a float</a:t>
            </a:r>
            <a:endParaRPr lang="en-US" sz="2000" dirty="0">
              <a:latin typeface="Courier New"/>
              <a:cs typeface="Courier New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INFO1 · Mission 1 (S2) · Jean-Luc Bibaud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256032" cy="372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1691640"/>
            <a:ext cx="5687568" cy="372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67204"/>
            <a:ext cx="256032" cy="689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267204"/>
            <a:ext cx="5687568" cy="6898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!  </a:t>
            </a:r>
            <a:r>
              <a:rPr lang="en-US" sz="2000" dirty="0">
                <a:solidFill>
                  <a:srgbClr val="16213E"/>
                </a:solidFill>
                <a:latin typeface="Calibri"/>
                <a:ea typeface="Calibri"/>
                <a:cs typeface="Calibri"/>
              </a:rPr>
              <a:t>Indentation matters: don't mix tabs and spaces</a:t>
            </a:r>
            <a:r>
              <a:rPr lang="en-US" sz="20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 (Thonny turns tabs into 4 spaces)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0080" y="3160268"/>
            <a:ext cx="256032" cy="689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160268"/>
            <a:ext cx="5687568" cy="689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boolean statement decides which section runs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053332"/>
            <a:ext cx="256032" cy="689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4053332"/>
            <a:ext cx="5687568" cy="6898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6213E"/>
                </a:solidFill>
                <a:latin typeface="Courier New"/>
                <a:ea typeface="Courier New" pitchFamily="34" charset="-122"/>
                <a:cs typeface="Courier New"/>
              </a:rPr>
              <a:t>== </a:t>
            </a:r>
            <a:r>
              <a:rPr lang="en-US" sz="2000" dirty="0">
                <a:solidFill>
                  <a:srgbClr val="16213E"/>
                </a:solidFill>
                <a:latin typeface="Calibri"/>
                <a:ea typeface="Calibri"/>
                <a:cs typeface="Calibri"/>
              </a:rPr>
              <a:t>is </a:t>
            </a:r>
            <a:r>
              <a:rPr lang="en-US" sz="2000" b="1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NOT</a:t>
            </a:r>
            <a:r>
              <a:rPr lang="en-US" sz="2000" dirty="0">
                <a:solidFill>
                  <a:srgbClr val="16213E"/>
                </a:solidFill>
                <a:latin typeface="Calibri"/>
                <a:ea typeface="Calibri"/>
                <a:cs typeface="Calibri"/>
              </a:rPr>
              <a:t> assignment, it's a conditional check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0080" y="4946396"/>
            <a:ext cx="256032" cy="372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4946396"/>
            <a:ext cx="5687568" cy="372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Non-boolean values can act as true or false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521960"/>
            <a:ext cx="256032" cy="689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5521960"/>
            <a:ext cx="5687568" cy="689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"and", "or", "not"</a:t>
            </a:r>
            <a:r>
              <a:rPr lang="en-US" sz="2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 boolean statements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040880" y="1691640"/>
            <a:ext cx="4510735" cy="1965960"/>
          </a:xfrm>
          <a:prstGeom prst="roundRect">
            <a:avLst>
              <a:gd name="adj" fmla="val 4651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0" y="1965960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BOOLEAN_EXPRESSION: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377440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STATEMENTS_1  </a:t>
            </a:r>
            <a:r>
              <a:rPr lang="en-US" sz="17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True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788920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200400"/>
            <a:ext cx="3962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STATEMENTS_2  </a:t>
            </a:r>
            <a:r>
              <a:rPr lang="en-US" sz="17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False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040880" y="3886200"/>
            <a:ext cx="4510735" cy="1051560"/>
          </a:xfrm>
          <a:prstGeom prst="roundRect">
            <a:avLst>
              <a:gd name="adj" fmla="val 8696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242048" y="4087368"/>
            <a:ext cx="410839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42048" y="4389120"/>
            <a:ext cx="410839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242048" y="4690872"/>
            <a:ext cx="410839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E6EDF3"/>
                </a:solidFill>
                <a:latin typeface="Courier New"/>
                <a:ea typeface="Courier New" pitchFamily="34" charset="-122"/>
                <a:cs typeface="Courier New"/>
              </a:rPr>
              <a:t>X == (a + 1) </a:t>
            </a:r>
            <a:r>
              <a:rPr lang="en-US" sz="1600" dirty="0">
                <a:solidFill>
                  <a:srgbClr val="F2B705"/>
                </a:solidFill>
                <a:latin typeface="Courier New"/>
                <a:ea typeface="Courier New" pitchFamily="34" charset="-122"/>
                <a:cs typeface="Courier New"/>
              </a:rPr>
              <a:t># True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40880" y="5120640"/>
            <a:ext cx="4510735" cy="777240"/>
          </a:xfrm>
          <a:prstGeom prst="roundRect">
            <a:avLst>
              <a:gd name="adj" fmla="val 11765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242048" y="5321808"/>
            <a:ext cx="410839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42048" y="5623560"/>
            <a:ext cx="410839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== True)  </a:t>
            </a:r>
            <a:r>
              <a:rPr lang="en-US" sz="16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INFO1 · Mission 1 (S2) · Jean-Luc Bibaud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Loop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256032" cy="880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651760"/>
            <a:ext cx="4864608" cy="880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 </a:t>
            </a: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</a:t>
            </a:r>
            <a:r>
              <a:rPr lang="en-US" sz="2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600" b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FIRST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11524"/>
            <a:ext cx="256032" cy="1293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811524"/>
            <a:ext cx="4864608" cy="1293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to update something in the loop to have an exit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0" y="2377440"/>
            <a:ext cx="5148072" cy="2377440"/>
          </a:xfrm>
          <a:prstGeom prst="roundRect">
            <a:avLst>
              <a:gd name="adj" fmla="val 3846"/>
            </a:avLst>
          </a:prstGeom>
          <a:solidFill>
            <a:srgbClr val="16213E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720840" y="2697480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3200400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count &lt; 5: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703320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E6EDF3"/>
                </a:solidFill>
                <a:latin typeface="Courier New"/>
                <a:ea typeface="Courier New" pitchFamily="34" charset="-122"/>
                <a:cs typeface="Courier New"/>
              </a:rPr>
              <a:t>  print(count)</a:t>
            </a:r>
            <a:endParaRPr lang="en-US" sz="2400" dirty="0">
              <a:latin typeface="Courier New"/>
              <a:cs typeface="Courier New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720840" y="4206240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E6EDF3"/>
                </a:solidFill>
                <a:latin typeface="Courier New"/>
                <a:ea typeface="Courier New" pitchFamily="34" charset="-122"/>
                <a:cs typeface="Courier New"/>
              </a:rPr>
              <a:t>  count += 1</a:t>
            </a:r>
            <a:endParaRPr lang="en-US" sz="2400" dirty="0">
              <a:latin typeface="Courier New"/>
              <a:cs typeface="Courier New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INFO1 · Mission 1 (S2) · Jean-Luc Bibaud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/>
                <a:ea typeface="Cambria"/>
                <a:cs typeface="Cambria" pitchFamily="34" charset="-120"/>
              </a:rPr>
              <a:t>Debugging: What Is It?</a:t>
            </a:r>
            <a:endParaRPr lang="en-US" sz="4000" dirty="0">
              <a:latin typeface="Cambria"/>
              <a:ea typeface="Cambria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each type of error refer to?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79676" y="283464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79676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errors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9768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written incorrectly.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16552" y="246888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56148" y="283464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56148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38404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errors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429768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that happen while the program runs.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93024" y="246888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32620" y="283464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32620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421624" y="38404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errors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421624" y="429768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runs, but does the wrong thing.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INFO1 · Mission 1 (S2) · Jean-Luc Bibaud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Variables, Values &amp; Data Types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Types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256032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23160"/>
            <a:ext cx="4910328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types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49499"/>
            <a:ext cx="256032" cy="5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849499"/>
            <a:ext cx="4910328" cy="5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explicit =&gt; type automatically inferred by Python interpreter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96596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Expressions &amp; Operators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423160"/>
            <a:ext cx="256032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11112" y="2423160"/>
            <a:ext cx="4910328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and operators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849499"/>
            <a:ext cx="256032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11112" y="2849499"/>
            <a:ext cx="4910328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PEMDAS -&gt; use brackets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20033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&amp; Naming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77233"/>
            <a:ext cx="256032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277233"/>
            <a:ext cx="4910328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(right hand evaluated first)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703572"/>
            <a:ext cx="256032" cy="5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703572"/>
            <a:ext cx="4910328" cy="5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with = and == and assignment direction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399786"/>
            <a:ext cx="256032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5399786"/>
            <a:ext cx="4910328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variables are mutable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826125"/>
            <a:ext cx="256032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5826125"/>
            <a:ext cx="4910328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keywords as variable names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550158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Conditionals &amp; Loops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4007358"/>
            <a:ext cx="256032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611112" y="4007358"/>
            <a:ext cx="4910328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4433697"/>
            <a:ext cx="256032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611112" y="4433697"/>
            <a:ext cx="4910328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conditions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4860036"/>
            <a:ext cx="256032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611112" y="4860036"/>
            <a:ext cx="4910328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5286375"/>
            <a:ext cx="256032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611112" y="5286375"/>
            <a:ext cx="4910328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execution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5712714"/>
            <a:ext cx="256032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6611112" y="5712714"/>
            <a:ext cx="4910328" cy="324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looping (while statement)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B9C6E3"/>
                </a:solidFill>
                <a:latin typeface="Calibri"/>
                <a:ea typeface="Calibri"/>
                <a:cs typeface="Calibri"/>
              </a:rPr>
              <a:t>INFO1 · Mission 1 (S2) · Jean-Luc Bibaud</a:t>
            </a:r>
            <a:endParaRPr lang="en-US" sz="1200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1200" dirty="0">
                <a:solidFill>
                  <a:srgbClr val="B9C6E3"/>
                </a:solidFill>
                <a:latin typeface="Calibri"/>
                <a:ea typeface="Calibri"/>
                <a:cs typeface="Calibri"/>
              </a:rPr>
              <a:t>10 / 11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834640"/>
            <a:ext cx="91440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2B705"/>
                </a:solidFill>
                <a:latin typeface="Calibri"/>
                <a:ea typeface="Calibri"/>
                <a:cs typeface="Calibri"/>
              </a:rPr>
              <a:t>Jean-luc.bibaud@student.uclouvain.be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1088136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54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Recap Done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B9C6E3"/>
                </a:solidFill>
                <a:latin typeface="Calibri"/>
                <a:ea typeface="Calibri"/>
                <a:cs typeface="Calibri"/>
              </a:rPr>
              <a:t>INFO1 · Mission 1 (S2) </a:t>
            </a:r>
            <a:r>
              <a:rPr lang="en-US" sz="1200" dirty="0">
                <a:solidFill>
                  <a:srgbClr val="B9C6E3"/>
                </a:solidFill>
                <a:ea typeface="+mn-lt"/>
                <a:cs typeface="+mn-lt"/>
              </a:rPr>
              <a:t>· Jean-Luc Bibaud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18001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9C6E3"/>
                </a:solidFill>
                <a:latin typeface="Calibri"/>
                <a:ea typeface="Calibri"/>
                <a:cs typeface="Calibri"/>
              </a:rPr>
              <a:t>11 / 11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INFO1 Mission 1 (S2)</dc:title>
  <dc:subject>PptxGenJS Presentation</dc:subject>
  <dc:creator>Jean-Luc Bibaud</dc:creator>
  <cp:lastModifiedBy>Jean-Luc Bibaud</cp:lastModifiedBy>
  <cp:revision>62</cp:revision>
  <dcterms:created xsi:type="dcterms:W3CDTF">2026-09-21T16:19:07Z</dcterms:created>
  <dcterms:modified xsi:type="dcterms:W3CDTF">2026-09-22T08:57:38Z</dcterms:modified>
</cp:coreProperties>
</file>