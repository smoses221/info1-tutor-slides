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10-12T16:16:32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51408-F94A-45B6-89E3-1E2E06A32708}" type="datetimeFigureOut"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CCE62-38B0-4CC7-B56C-FEDAEDEE67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50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method is just a function attached to the object: you call it with a dot. Note that upper() does not change my_str, it gives back a new string — that's why we store it in my_str_upper.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 loop takes the elements of the iterable one by one. On a string, that's each character — so the loop prints b, a, n, a, n, a on separate lines. (range(fruit) would not work: range needs a number.)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indexes count from the end: -1 is the last character. Slices work the same way, stop is still excluded: word[-5:-2] takes -5, -4, -3 → 'azi'. A step of -1 walks backwards, so word[::-1] reverses the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renamed the parameter from list to lst: naming it list hides Python's built-in list()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 asks: do they look the same? is asks: are they literally the same object? Don't use is to compare numbers or strings: it sometimes works by accident because Python reuses small values, which makes bugs hard to find.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STRINGS, LISTS &amp; MUTABILITY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INFO1 Mission 4 (S5)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9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Jean-Luc Bibaud</a:t>
            </a:r>
            <a:endParaRPr lang="en-US" sz="2400" dirty="0"/>
          </a:p>
        </p:txBody>
      </p:sp>
      <p:pic>
        <p:nvPicPr>
          <p:cNvPr id="7" name="Image 0" descr="/tmp/claude-0/-home-claude/5443860c-baf3-5869-a4df-fed24595d3c1/scratchpad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89320"/>
            <a:ext cx="1554480" cy="5248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on strings (and other objects)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3055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an </a:t>
            </a:r>
            <a:r>
              <a:rPr lang="en-US" sz="2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31546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3081528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are functions that come </a:t>
            </a:r>
            <a:r>
              <a:rPr lang="en-US" sz="2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object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60120" y="417880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4105656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apply them with a </a:t>
            </a:r>
            <a:r>
              <a:rPr lang="en-US" sz="2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20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object.method()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60120" y="5202936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5129784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have methods too: </a:t>
            </a:r>
            <a:r>
              <a:rPr lang="en-US" sz="20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nums.append(4)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35040" y="1783080"/>
            <a:ext cx="5516575" cy="4526280"/>
          </a:xfrm>
          <a:prstGeom prst="roundRect">
            <a:avLst>
              <a:gd name="adj" fmla="val 2020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2103120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my_str = "hi"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55080" y="2487168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my_str_upper = my_str.upper()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55080" y="2871216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print(my_str_upper)</a:t>
            </a:r>
            <a:endParaRPr lang="en-US" sz="1900" dirty="0"/>
          </a:p>
        </p:txBody>
      </p:sp>
      <p:sp>
        <p:nvSpPr>
          <p:cNvPr id="21" name="ANS_1"/>
          <p:cNvSpPr/>
          <p:nvPr/>
        </p:nvSpPr>
        <p:spPr>
          <a:xfrm>
            <a:off x="6355080" y="3255264"/>
            <a:ext cx="48764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8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3867455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"banana".count("a")</a:t>
            </a:r>
            <a:endParaRPr lang="en-US" sz="1900" dirty="0"/>
          </a:p>
        </p:txBody>
      </p:sp>
      <p:sp>
        <p:nvSpPr>
          <p:cNvPr id="23" name="ANS_2"/>
          <p:cNvSpPr/>
          <p:nvPr/>
        </p:nvSpPr>
        <p:spPr>
          <a:xfrm>
            <a:off x="6355080" y="4251503"/>
            <a:ext cx="48764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8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55080" y="4633265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"a,b,c".split(",")</a:t>
            </a:r>
            <a:endParaRPr lang="en-US" sz="1900" dirty="0"/>
          </a:p>
        </p:txBody>
      </p:sp>
      <p:sp>
        <p:nvSpPr>
          <p:cNvPr id="25" name="ANS_3"/>
          <p:cNvSpPr/>
          <p:nvPr/>
        </p:nvSpPr>
        <p:spPr>
          <a:xfrm>
            <a:off x="6355080" y="5017313"/>
            <a:ext cx="48764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8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['a', 'b', 'c']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55080" y="5399075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"hi".replace("h", "p")</a:t>
            </a:r>
            <a:endParaRPr lang="en-US" sz="1900" dirty="0"/>
          </a:p>
        </p:txBody>
      </p:sp>
      <p:sp>
        <p:nvSpPr>
          <p:cNvPr id="27" name="ANS_4"/>
          <p:cNvSpPr/>
          <p:nvPr/>
        </p:nvSpPr>
        <p:spPr>
          <a:xfrm>
            <a:off x="6355080" y="5783123"/>
            <a:ext cx="48764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8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'pi'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4 (S5)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5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&amp; LISTS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operator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VARIABLE[INDEX]</a:t>
            </a:r>
            <a:r>
              <a:rPr lang="en-US" sz="2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 </a:t>
            </a:r>
            <a:r>
              <a:rPr lang="en-US" sz="2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VALUE[INDEX]</a:t>
            </a:r>
            <a:r>
              <a:rPr lang="en-US" sz="2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gives a value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098280" y="2450592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CEED3"/>
          </a:solidFill>
          <a:ln/>
        </p:spPr>
      </p:sp>
      <p:sp>
        <p:nvSpPr>
          <p:cNvPr id="8" name="Text 6"/>
          <p:cNvSpPr/>
          <p:nvPr/>
        </p:nvSpPr>
        <p:spPr>
          <a:xfrm>
            <a:off x="9098280" y="24505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VALUE[...] is less common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start at 0.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depends on the type: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434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"hi"[0]</a:t>
            </a:r>
            <a:endParaRPr lang="en-US" sz="2200" dirty="0"/>
          </a:p>
        </p:txBody>
      </p:sp>
      <p:sp>
        <p:nvSpPr>
          <p:cNvPr id="14" name="ANS_1"/>
          <p:cNvSpPr/>
          <p:nvPr/>
        </p:nvSpPr>
        <p:spPr>
          <a:xfrm>
            <a:off x="1005840" y="5440680"/>
            <a:ext cx="4572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2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'h'   (a str)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17920" y="406908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4434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[1, 2, 4]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4937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nums[1]</a:t>
            </a:r>
            <a:endParaRPr lang="en-US" sz="2200" dirty="0"/>
          </a:p>
        </p:txBody>
      </p:sp>
      <p:sp>
        <p:nvSpPr>
          <p:cNvPr id="18" name="ANS_2"/>
          <p:cNvSpPr/>
          <p:nvPr/>
        </p:nvSpPr>
        <p:spPr>
          <a:xfrm>
            <a:off x="6583680" y="5440680"/>
            <a:ext cx="4572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2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(an int)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4 (S5)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iterable? How to loop through all elements?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Iterable</a:t>
            </a: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something you can go through one element at a time: a string, a list, a range…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6766560" cy="3931920"/>
          </a:xfrm>
          <a:prstGeom prst="roundRect">
            <a:avLst>
              <a:gd name="adj" fmla="val 2326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6974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 = "banana"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35584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list(enumerate(fruit))</a:t>
            </a:r>
            <a:endParaRPr lang="en-US" sz="1900" dirty="0"/>
          </a:p>
        </p:txBody>
      </p:sp>
      <p:sp>
        <p:nvSpPr>
          <p:cNvPr id="8" name="ANS_1"/>
          <p:cNvSpPr/>
          <p:nvPr/>
        </p:nvSpPr>
        <p:spPr>
          <a:xfrm>
            <a:off x="1005840" y="3767328"/>
            <a:ext cx="603504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7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[(0, 'b'), (1, 'a'), (2, 'n'),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(3, 'a'), (4, 'n'), (5, 'a')]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465683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list(enumerate(range(0, 5)))</a:t>
            </a:r>
            <a:endParaRPr lang="en-US" sz="1900" dirty="0"/>
          </a:p>
        </p:txBody>
      </p:sp>
      <p:sp>
        <p:nvSpPr>
          <p:cNvPr id="10" name="ANS_2"/>
          <p:cNvSpPr/>
          <p:nvPr/>
        </p:nvSpPr>
        <p:spPr>
          <a:xfrm>
            <a:off x="1005840" y="5068316"/>
            <a:ext cx="603504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7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[(0, 0), (1, 1), (2, 2), (3, 3), (4, 4)]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26680" y="2331720"/>
            <a:ext cx="3824935" cy="39319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01000" y="2423160"/>
            <a:ext cx="3276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this do then?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01000" y="2926080"/>
            <a:ext cx="3276295" cy="960120"/>
          </a:xfrm>
          <a:prstGeom prst="roundRect">
            <a:avLst>
              <a:gd name="adj" fmla="val 9524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3063240"/>
            <a:ext cx="3001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fruit: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138160" y="3410712"/>
            <a:ext cx="3001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001000" y="4023360"/>
            <a:ext cx="3276295" cy="2103120"/>
          </a:xfrm>
          <a:prstGeom prst="roundRect">
            <a:avLst>
              <a:gd name="adj" fmla="val 4348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7" name="ANS_3"/>
          <p:cNvSpPr/>
          <p:nvPr/>
        </p:nvSpPr>
        <p:spPr>
          <a:xfrm>
            <a:off x="8183880" y="4160520"/>
            <a:ext cx="29105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7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4 (S5)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lists are possible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852160" cy="4480560"/>
          </a:xfrm>
          <a:prstGeom prst="roundRect">
            <a:avLst>
              <a:gd name="adj" fmla="val 2041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mx = [[1, 2, 3],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56946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[4, 5, 6],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99008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[7, 8, 9]]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663086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mx: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408371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print(row)</a:t>
            </a:r>
            <a:endParaRPr lang="en-US" sz="2000" dirty="0"/>
          </a:p>
        </p:txBody>
      </p:sp>
      <p:sp>
        <p:nvSpPr>
          <p:cNvPr id="10" name="ANS_1"/>
          <p:cNvSpPr/>
          <p:nvPr/>
        </p:nvSpPr>
        <p:spPr>
          <a:xfrm>
            <a:off x="1005840" y="4504334"/>
            <a:ext cx="512064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9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[4, 5, 6]</a:t>
            </a:r>
            <a:endParaRPr lang="en-US" sz="1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[7, 8, 9]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812280" y="1783080"/>
            <a:ext cx="4739335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2011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0" y="2011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0" y="2011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18120" y="2377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237744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778240" y="237744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26880" y="237744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81812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0" y="292608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778240" y="292608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326880" y="2926080"/>
            <a:ext cx="548640" cy="548640"/>
          </a:xfrm>
          <a:prstGeom prst="rect">
            <a:avLst/>
          </a:prstGeom>
          <a:solidFill>
            <a:schemeClr val="bg1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18120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0" y="347472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778240" y="347472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326880" y="347472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05840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↓   column 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086600" y="4251960"/>
            <a:ext cx="4190695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42632" y="4507992"/>
            <a:ext cx="367863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mx[1]</a:t>
            </a:r>
            <a:endParaRPr lang="en-US" sz="1900" dirty="0"/>
          </a:p>
        </p:txBody>
      </p:sp>
      <p:sp>
        <p:nvSpPr>
          <p:cNvPr id="39" name="ANS_2"/>
          <p:cNvSpPr/>
          <p:nvPr/>
        </p:nvSpPr>
        <p:spPr>
          <a:xfrm>
            <a:off x="8942832" y="4590288"/>
            <a:ext cx="207843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8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[4, 5, 6]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342632" y="4946904"/>
            <a:ext cx="367863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mx[1][2]</a:t>
            </a:r>
            <a:endParaRPr lang="en-US" sz="1900" dirty="0"/>
          </a:p>
        </p:txBody>
      </p:sp>
      <p:sp>
        <p:nvSpPr>
          <p:cNvPr id="41" name="ANS_3"/>
          <p:cNvSpPr/>
          <p:nvPr/>
        </p:nvSpPr>
        <p:spPr>
          <a:xfrm>
            <a:off x="8942832" y="5029200"/>
            <a:ext cx="207843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8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342632" y="5385816"/>
            <a:ext cx="367863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mx[-1][0]</a:t>
            </a:r>
            <a:endParaRPr lang="en-US" sz="1900" dirty="0"/>
          </a:p>
        </p:txBody>
      </p:sp>
      <p:sp>
        <p:nvSpPr>
          <p:cNvPr id="43" name="ANS_4"/>
          <p:cNvSpPr/>
          <p:nvPr/>
        </p:nvSpPr>
        <p:spPr>
          <a:xfrm>
            <a:off x="8942832" y="5468112"/>
            <a:ext cx="207843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8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4 (S5)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9" grpId="0" animBg="1"/>
      <p:bldP spid="41" grpId="0" animBg="1"/>
      <p:bldP spid="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&amp; LISTS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Slices and substrings</a:t>
            </a:r>
            <a:endParaRPr lang="en-US" sz="4000" dirty="0"/>
          </a:p>
        </p:txBody>
      </p:sp>
      <p:pic>
        <p:nvPicPr>
          <p:cNvPr id="4" name="Image 0" descr="/tmp/claude-0/-home-claude/5443860c-baf3-5869-a4df-fed24595d3c1/scratchpad/build/sl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5074920" cy="41334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43931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[start : stop : step]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stop is excluded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080760" y="1691640"/>
            <a:ext cx="5470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negative indexes?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08076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040880" y="21854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40880" y="2514600"/>
            <a:ext cx="566928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0" y="2514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040880" y="300837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07808" y="21854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607808" y="2514600"/>
            <a:ext cx="566928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07808" y="2514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607808" y="300837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74736" y="21854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74736" y="2514600"/>
            <a:ext cx="566928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74736" y="2514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174736" y="300837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41664" y="21854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741664" y="2514600"/>
            <a:ext cx="566928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41664" y="2514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741664" y="300837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308592" y="21854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308592" y="2514600"/>
            <a:ext cx="566928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08592" y="2514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308592" y="300837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875520" y="21854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9875520" y="2514600"/>
            <a:ext cx="566928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75520" y="2514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875520" y="300837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0442448" y="21854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0442448" y="2514600"/>
            <a:ext cx="566928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442448" y="2514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2448" y="300837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080760" y="3383280"/>
            <a:ext cx="5470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this give?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6080760" y="3840480"/>
            <a:ext cx="5470855" cy="2468880"/>
          </a:xfrm>
          <a:prstGeom prst="roundRect">
            <a:avLst>
              <a:gd name="adj" fmla="val 3704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6263640" y="4023360"/>
            <a:ext cx="5105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word[-1]</a:t>
            </a:r>
            <a:endParaRPr lang="en-US" sz="2000" dirty="0"/>
          </a:p>
        </p:txBody>
      </p:sp>
      <p:sp>
        <p:nvSpPr>
          <p:cNvPr id="39" name="ANS_1"/>
          <p:cNvSpPr/>
          <p:nvPr/>
        </p:nvSpPr>
        <p:spPr>
          <a:xfrm>
            <a:off x="8641080" y="4081272"/>
            <a:ext cx="2727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0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'g'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6263640" y="4443984"/>
            <a:ext cx="5105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word[-3:]</a:t>
            </a:r>
            <a:endParaRPr lang="en-US" sz="2000" dirty="0"/>
          </a:p>
        </p:txBody>
      </p:sp>
      <p:sp>
        <p:nvSpPr>
          <p:cNvPr id="41" name="ANS_2"/>
          <p:cNvSpPr/>
          <p:nvPr/>
        </p:nvSpPr>
        <p:spPr>
          <a:xfrm>
            <a:off x="8641080" y="4501896"/>
            <a:ext cx="2727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0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'ing'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6263640" y="4864608"/>
            <a:ext cx="5105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word[:-3]</a:t>
            </a:r>
            <a:endParaRPr lang="en-US" sz="2000" dirty="0"/>
          </a:p>
        </p:txBody>
      </p:sp>
      <p:sp>
        <p:nvSpPr>
          <p:cNvPr id="43" name="ANS_3"/>
          <p:cNvSpPr/>
          <p:nvPr/>
        </p:nvSpPr>
        <p:spPr>
          <a:xfrm>
            <a:off x="8641080" y="4922520"/>
            <a:ext cx="2727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0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'amaz'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6263640" y="5285232"/>
            <a:ext cx="5105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word[-5:-2]</a:t>
            </a:r>
            <a:endParaRPr lang="en-US" sz="2000" dirty="0"/>
          </a:p>
        </p:txBody>
      </p:sp>
      <p:sp>
        <p:nvSpPr>
          <p:cNvPr id="45" name="ANS_4"/>
          <p:cNvSpPr/>
          <p:nvPr/>
        </p:nvSpPr>
        <p:spPr>
          <a:xfrm>
            <a:off x="8641080" y="5343144"/>
            <a:ext cx="2727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0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'azi'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6263640" y="5705856"/>
            <a:ext cx="5105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word[::-1]</a:t>
            </a:r>
            <a:endParaRPr lang="en-US" sz="2000" dirty="0"/>
          </a:p>
        </p:txBody>
      </p:sp>
      <p:sp>
        <p:nvSpPr>
          <p:cNvPr id="47" name="ANS_5"/>
          <p:cNvSpPr/>
          <p:nvPr/>
        </p:nvSpPr>
        <p:spPr>
          <a:xfrm>
            <a:off x="8641080" y="5763768"/>
            <a:ext cx="2727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0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'gnizama'</a:t>
            </a:r>
            <a:endParaRPr lang="en-US" sz="2000" dirty="0"/>
          </a:p>
        </p:txBody>
      </p:sp>
      <p:sp>
        <p:nvSpPr>
          <p:cNvPr id="48" name="Text 45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4 (S5)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1" grpId="0" animBg="1"/>
      <p:bldP spid="43" grpId="0" animBg="1"/>
      <p:bldP spid="45" grpId="0" animBg="1"/>
      <p:bldP spid="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and strings (and tuples) are immutable!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562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5146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23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1635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66160" y="240487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4048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66160" y="289864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8986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0056" y="2523744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0056" y="2523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43400" y="2587752"/>
            <a:ext cx="676656" cy="15544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4343400" y="2880360"/>
            <a:ext cx="676656" cy="20116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14400" y="3429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distinct values exist?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0" y="34290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16213E"/>
          </a:solidFill>
          <a:ln/>
        </p:spPr>
      </p:sp>
      <p:sp>
        <p:nvSpPr>
          <p:cNvPr id="19" name="ANS_1"/>
          <p:cNvSpPr/>
          <p:nvPr/>
        </p:nvSpPr>
        <p:spPr>
          <a:xfrm>
            <a:off x="4709160" y="34930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7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14400" y="4023360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41605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566160" y="4023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40233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566160" y="4526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45262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0056" y="392277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0056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0056" y="442569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0056" y="4425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43400" y="4206240"/>
            <a:ext cx="676656" cy="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343400" y="4709160"/>
            <a:ext cx="676656" cy="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14400" y="52120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12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rebinds the name x to the value 12. It does </a:t>
            </a: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 23 — y still points to it.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7920" y="178308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92240" y="18562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492240" y="2377440"/>
            <a:ext cx="4754880" cy="2103120"/>
          </a:xfrm>
          <a:prstGeom prst="roundRect">
            <a:avLst>
              <a:gd name="adj" fmla="val 4348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675120" y="256032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 = "Hello, world!"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75120" y="286207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greeting[0] = "J"</a:t>
            </a:r>
            <a:endParaRPr lang="en-US" sz="1600" dirty="0"/>
          </a:p>
        </p:txBody>
      </p:sp>
      <p:sp>
        <p:nvSpPr>
          <p:cNvPr id="38" name="ANS_2"/>
          <p:cNvSpPr/>
          <p:nvPr/>
        </p:nvSpPr>
        <p:spPr>
          <a:xfrm>
            <a:off x="6675120" y="3163824"/>
            <a:ext cx="438912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5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'str' object does not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 item assignment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675120" y="371551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print(greeting)</a:t>
            </a:r>
            <a:endParaRPr lang="en-US" sz="1600" dirty="0"/>
          </a:p>
        </p:txBody>
      </p:sp>
      <p:sp>
        <p:nvSpPr>
          <p:cNvPr id="40" name="ANS_3"/>
          <p:cNvSpPr/>
          <p:nvPr/>
        </p:nvSpPr>
        <p:spPr>
          <a:xfrm>
            <a:off x="6675120" y="4017264"/>
            <a:ext cx="43891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5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world!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92240" y="45445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creates a new string and binds the name to that new value: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492240" y="5093208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675120" y="527608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E6EDF3"/>
                </a:solidFill>
                <a:latin typeface="Courier New"/>
                <a:ea typeface="Courier New" pitchFamily="34" charset="-122"/>
                <a:cs typeface="Courier New"/>
              </a:rPr>
              <a:t>greeting</a:t>
            </a:r>
            <a:r>
              <a:rPr lang="en-US" sz="1600" dirty="0">
                <a:solidFill>
                  <a:srgbClr val="E6EDF3"/>
                </a:solidFill>
                <a:latin typeface="Courier New"/>
                <a:ea typeface="Courier New" pitchFamily="34" charset="-122"/>
                <a:cs typeface="Courier New"/>
              </a:rPr>
              <a:t> = greeting + " Bye!"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675120" y="557784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E6EDF3"/>
                </a:solidFill>
                <a:latin typeface="Courier New"/>
                <a:ea typeface="Courier New" pitchFamily="34" charset="-122"/>
                <a:cs typeface="Courier New"/>
              </a:rPr>
              <a:t>print(</a:t>
            </a:r>
            <a:r>
              <a:rPr lang="en-US" sz="1600" err="1">
                <a:solidFill>
                  <a:srgbClr val="E6EDF3"/>
                </a:solidFill>
                <a:latin typeface="Courier New"/>
                <a:ea typeface="Courier New" pitchFamily="34" charset="-122"/>
                <a:cs typeface="Courier New"/>
              </a:rPr>
              <a:t>greeting)</a:t>
            </a:r>
            <a:endParaRPr lang="en-US" sz="1600" err="1">
              <a:latin typeface="Courier New"/>
              <a:cs typeface="Courier New"/>
            </a:endParaRPr>
          </a:p>
        </p:txBody>
      </p:sp>
      <p:sp>
        <p:nvSpPr>
          <p:cNvPr id="45" name="ANS_4"/>
          <p:cNvSpPr/>
          <p:nvPr/>
        </p:nvSpPr>
        <p:spPr>
          <a:xfrm>
            <a:off x="6675120" y="5879592"/>
            <a:ext cx="43891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5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world! Bye!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4 (S5)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8" grpId="0" animBg="1"/>
      <p:bldP spid="40" grpId="0" animBg="1"/>
      <p:bldP spid="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are mutable! Looking at a list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3154680"/>
          </a:xfrm>
          <a:prstGeom prst="roundRect">
            <a:avLst>
              <a:gd name="adj" fmla="val 2899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[1, 2, 3]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 = nums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nums.append(4)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print(tri)</a:t>
            </a:r>
            <a:endParaRPr lang="en-US" sz="2200" dirty="0"/>
          </a:p>
        </p:txBody>
      </p:sp>
      <p:sp>
        <p:nvSpPr>
          <p:cNvPr id="9" name="ANS_1"/>
          <p:cNvSpPr/>
          <p:nvPr/>
        </p:nvSpPr>
        <p:spPr>
          <a:xfrm>
            <a:off x="1005840" y="4526280"/>
            <a:ext cx="43891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1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4]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080760" y="1783080"/>
            <a:ext cx="5470855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 tri = nums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21945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1945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92240" y="263347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6334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412480" y="2395728"/>
            <a:ext cx="420624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39572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833104" y="2395728"/>
            <a:ext cx="420624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33104" y="239572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53728" y="2395728"/>
            <a:ext cx="420624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239572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0" y="2377440"/>
            <a:ext cx="1051560" cy="164592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7315200" y="2651760"/>
            <a:ext cx="1051560" cy="164592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9224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 nums.append(4)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34290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429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92240" y="386791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8679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12480" y="3630168"/>
            <a:ext cx="420624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63016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833104" y="3630168"/>
            <a:ext cx="420624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33104" y="363016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253728" y="3630168"/>
            <a:ext cx="420624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3728" y="363016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674352" y="3630168"/>
            <a:ext cx="420624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74352" y="363016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15200" y="3611880"/>
            <a:ext cx="1051560" cy="164592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7315200" y="3886200"/>
            <a:ext cx="1051560" cy="164592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492240" y="4343400"/>
            <a:ext cx="464789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list: tri is just a second name for it.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" y="516636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CEED3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516636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 separate list?  </a:t>
            </a:r>
            <a:r>
              <a:rPr lang="en-US" sz="2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 = nums.copy()</a:t>
            </a:r>
            <a:r>
              <a:rPr lang="en-US" sz="2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(or nums[:])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4 (S5)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reminder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035040" cy="2194560"/>
          </a:xfrm>
          <a:prstGeom prst="roundRect">
            <a:avLst>
              <a:gd name="adj" fmla="val 4167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94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NAME(PARAMETERS):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STATEMENTS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VALUE</a:t>
            </a:r>
            <a:r>
              <a:rPr lang="en-US" sz="24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optional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return, the function gives back None.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132320" y="1828800"/>
            <a:ext cx="4419295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0" y="2011680"/>
            <a:ext cx="3687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Invoking / calling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498080" y="2560320"/>
            <a:ext cx="3687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executing the code of that function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98080" y="3520440"/>
            <a:ext cx="3687775" cy="777240"/>
          </a:xfrm>
          <a:prstGeom prst="roundRect">
            <a:avLst>
              <a:gd name="adj" fmla="val 11765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99248" y="3721608"/>
            <a:ext cx="3285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NAME(ARGUMENTS)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53492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myfunction(20)</a:t>
            </a:r>
            <a:r>
              <a:rPr lang="en-US" sz="22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x is what the function returned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4 (S5)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MUTABILITY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in a function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list is changed in place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03520" cy="3474720"/>
          </a:xfrm>
          <a:prstGeom prst="roundRect">
            <a:avLst>
              <a:gd name="adj" fmla="val 2632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14600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add(lst):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52928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lst.append("B")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191256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732581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 = ["X"]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070909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add(my_list)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409237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print(my_list)</a:t>
            </a:r>
            <a:endParaRPr lang="en-US" sz="1800" dirty="0"/>
          </a:p>
        </p:txBody>
      </p:sp>
      <p:sp>
        <p:nvSpPr>
          <p:cNvPr id="12" name="ANS_1"/>
          <p:cNvSpPr/>
          <p:nvPr/>
        </p:nvSpPr>
        <p:spPr>
          <a:xfrm>
            <a:off x="914400" y="4747565"/>
            <a:ext cx="475488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7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['X', 'B']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number is not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17920" y="2240280"/>
            <a:ext cx="5303520" cy="3474720"/>
          </a:xfrm>
          <a:prstGeom prst="roundRect">
            <a:avLst>
              <a:gd name="adj" fmla="val 2632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514600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add(num):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852928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+= 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191256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3732581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my_num = 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4070909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add(my_num)</a:t>
            </a:r>
            <a:endParaRPr lang="en-US" sz="1800" dirty="0"/>
          </a:p>
        </p:txBody>
      </p:sp>
      <p:sp>
        <p:nvSpPr>
          <p:cNvPr id="20" name="ANS_2"/>
          <p:cNvSpPr/>
          <p:nvPr/>
        </p:nvSpPr>
        <p:spPr>
          <a:xfrm>
            <a:off x="6492240" y="4409237"/>
            <a:ext cx="475488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7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4 (not stored!)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0" y="4763694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print(my_num)</a:t>
            </a:r>
            <a:endParaRPr lang="en-US" sz="1800" dirty="0"/>
          </a:p>
        </p:txBody>
      </p:sp>
      <p:sp>
        <p:nvSpPr>
          <p:cNvPr id="22" name="ANS_3"/>
          <p:cNvSpPr/>
          <p:nvPr/>
        </p:nvSpPr>
        <p:spPr>
          <a:xfrm>
            <a:off x="6492240" y="5102022"/>
            <a:ext cx="475488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7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0080" y="5852160"/>
            <a:ext cx="10881360" cy="502920"/>
          </a:xfrm>
          <a:prstGeom prst="roundRect">
            <a:avLst>
              <a:gd name="adj" fmla="val 18182"/>
            </a:avLst>
          </a:prstGeom>
          <a:solidFill>
            <a:srgbClr val="FCEED3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8521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gets the same list, so append changes it. num += 1 makes a new number, only inside.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4 (S5)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hard things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1B2A4A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8308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2 hard problems in computer science: cache invalidation, naming things, and off-by-1 errors.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1206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B9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joke built on Phil Karlton's quote (his original only had the first two).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691640"/>
            <a:ext cx="5105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of these are assignments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46520" y="2194560"/>
            <a:ext cx="5105095" cy="4114800"/>
          </a:xfrm>
          <a:prstGeom prst="roundRect">
            <a:avLst>
              <a:gd name="adj" fmla="val 2222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...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...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[... for X in ...]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3794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 for X in ...)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4251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{... for X in ...}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4709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X(...):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5166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X(...):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5623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fn(X): ... ; fn(12)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... as X: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... as X: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0" y="3337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... import 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0" y="4251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... as 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0" y="4709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... import ... as 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4 (S5)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between is and ==?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20116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value?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269748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97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65960" y="26974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object (the same list in memory)?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36118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6118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88720" y="41148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1148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88720" y="489204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8920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0" y="3886200"/>
            <a:ext cx="438912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88620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39312" y="3886200"/>
            <a:ext cx="438912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388620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78224" y="3886200"/>
            <a:ext cx="438912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388620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00400" y="4873752"/>
            <a:ext cx="438912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487375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39312" y="4873752"/>
            <a:ext cx="438912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487375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78224" y="4873752"/>
            <a:ext cx="438912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78224" y="487375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011680" y="3794760"/>
            <a:ext cx="1143000" cy="22860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2011680" y="4160520"/>
            <a:ext cx="1143000" cy="13716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011680" y="5074920"/>
            <a:ext cx="1143000" cy="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60120" y="5440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values, but two different lists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" y="5760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7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7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for None:  </a:t>
            </a:r>
            <a:r>
              <a:rPr lang="en-US" sz="17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is None: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446520" y="1783080"/>
            <a:ext cx="5105095" cy="4526280"/>
          </a:xfrm>
          <a:prstGeom prst="roundRect">
            <a:avLst>
              <a:gd name="adj" fmla="val 2020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58000" y="2194560"/>
            <a:ext cx="4282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858000" y="2761488"/>
            <a:ext cx="4282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[1, 2, 3]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858000" y="3328416"/>
            <a:ext cx="4282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858000" y="4235501"/>
            <a:ext cx="4282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b</a:t>
            </a:r>
            <a:endParaRPr lang="en-US" sz="2400" dirty="0"/>
          </a:p>
        </p:txBody>
      </p:sp>
      <p:sp>
        <p:nvSpPr>
          <p:cNvPr id="39" name="ANS_1"/>
          <p:cNvSpPr/>
          <p:nvPr/>
        </p:nvSpPr>
        <p:spPr>
          <a:xfrm>
            <a:off x="8961120" y="4336085"/>
            <a:ext cx="2179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4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858000" y="4802429"/>
            <a:ext cx="4282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is b</a:t>
            </a:r>
            <a:endParaRPr lang="en-US" sz="2400" dirty="0"/>
          </a:p>
        </p:txBody>
      </p:sp>
      <p:sp>
        <p:nvSpPr>
          <p:cNvPr id="41" name="ANS_2"/>
          <p:cNvSpPr/>
          <p:nvPr/>
        </p:nvSpPr>
        <p:spPr>
          <a:xfrm>
            <a:off x="8961120" y="4903013"/>
            <a:ext cx="2179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4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858000" y="5369357"/>
            <a:ext cx="4282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is c</a:t>
            </a:r>
            <a:endParaRPr lang="en-US" sz="2400" dirty="0"/>
          </a:p>
        </p:txBody>
      </p:sp>
      <p:sp>
        <p:nvSpPr>
          <p:cNvPr id="43" name="ANS_3"/>
          <p:cNvSpPr/>
          <p:nvPr/>
        </p:nvSpPr>
        <p:spPr>
          <a:xfrm>
            <a:off x="8961120" y="5469941"/>
            <a:ext cx="2179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24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4 (S5)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1" grpId="0" animBg="1"/>
      <p:bldP spid="4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Storing what append gives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176272"/>
            <a:ext cx="3044952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313432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[1, 2]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nums.append(3)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898648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nums is now None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401568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changes the list and returns None.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25112" y="164592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17373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strings change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53712" y="2176272"/>
            <a:ext cx="3044952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90872" y="2313432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"hi"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90872" y="260604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s.upper()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90872" y="2898648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print(s)</a:t>
            </a: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hi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53712" y="3401568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never change: write s = s.upper().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10144" y="164592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38744" y="17373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one too far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38744" y="2176272"/>
            <a:ext cx="3044952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75904" y="2313432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= "hi"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75904" y="260604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word[2]</a:t>
            </a: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IndexError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38744" y="3401568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index is len(word) - 1, or just -1.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20624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Forgetting stop is excluded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68680" y="4645152"/>
            <a:ext cx="3044952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5840" y="4782312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"amazing"[0:3]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'ama', not 'amaz'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8680" y="5870448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[start:stop] stops just before stop.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325112" y="41148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53712" y="420624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Copying a list with =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553712" y="4645152"/>
            <a:ext cx="3044952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90872" y="4782312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 = nums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690872" y="507492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tri.append(9)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690872" y="5367528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nums changed too!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53712" y="5870448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nums.copy() for a real copy.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010144" y="41148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38744" y="420624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instead of ==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238744" y="4645152"/>
            <a:ext cx="3044952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375904" y="4782312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name is "Ada":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375904" y="507492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works... sometimes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38744" y="5870448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for values, is only for None.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4 (S5)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INFO1 Mission 4 (S5)</dc:title>
  <dc:subject>PptxGenJS Presentation</dc:subject>
  <dc:creator>Jean-Luc Bibaud</dc:creator>
  <cp:lastModifiedBy>Jean-Luc Bibaud</cp:lastModifiedBy>
  <cp:revision>5</cp:revision>
  <dcterms:created xsi:type="dcterms:W3CDTF">2026-10-12T16:04:18Z</dcterms:created>
  <dcterms:modified xsi:type="dcterms:W3CDTF">2026-10-12T16:25:19Z</dcterms:modified>
</cp:coreProperties>
</file>