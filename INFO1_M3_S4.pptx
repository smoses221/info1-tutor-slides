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B37ADA0A-86CE-4ABE-A290-8B332E21920D}" type="datetimeFigureOut">
              <a:t>10/7/2026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D6C047D9-B6F8-4D1B-BD89-92548C768233}" type="slidenum">
              <a:t>‹#›</a:t>
            </a:fld>
            <a:endParaRPr lang="en-US"/>
          </a:p>
        </p:txBody>
      </p:sp>
    </p:spTree>
    <p:extLst>
      <p:ext uri="{BB962C8B-B14F-4D97-AF65-F5344CB8AC3E}">
        <p14:creationId xmlns:p14="http://schemas.microsoft.com/office/powerpoint/2010/main" val="9195955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Importing runs the module once and makes its names available. 'import math' gives you the module itself, so you reach in with math.pi. 'from math import pi, tan' copies only those names in, without the prefix — anything else (like cos) is not there. Click to reveal each output: left column first, then right.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966960" y="-1463040"/>
            <a:ext cx="3840480" cy="3840480"/>
          </a:xfrm>
          <a:prstGeom prst="ellipse">
            <a:avLst/>
          </a:prstGeom>
          <a:solidFill>
            <a:srgbClr val="24345F"/>
          </a:solidFill>
          <a:ln/>
        </p:spPr>
      </p:sp>
      <p:sp>
        <p:nvSpPr>
          <p:cNvPr id="3" name="Shape 1"/>
          <p:cNvSpPr/>
          <p:nvPr/>
        </p:nvSpPr>
        <p:spPr>
          <a:xfrm>
            <a:off x="-1280160" y="4937760"/>
            <a:ext cx="3108960" cy="3108960"/>
          </a:xfrm>
          <a:prstGeom prst="ellipse">
            <a:avLst/>
          </a:prstGeom>
          <a:solidFill>
            <a:srgbClr val="24345F"/>
          </a:solidFill>
          <a:ln/>
        </p:spPr>
      </p:sp>
      <p:sp>
        <p:nvSpPr>
          <p:cNvPr id="4" name="Text 2"/>
          <p:cNvSpPr/>
          <p:nvPr/>
        </p:nvSpPr>
        <p:spPr>
          <a:xfrm>
            <a:off x="640080" y="2331720"/>
            <a:ext cx="9144000" cy="457200"/>
          </a:xfrm>
          <a:prstGeom prst="rect">
            <a:avLst/>
          </a:prstGeom>
          <a:noFill/>
          <a:ln/>
        </p:spPr>
        <p:txBody>
          <a:bodyPr wrap="square" rtlCol="0" anchor="ctr"/>
          <a:lstStyle/>
          <a:p>
            <a:pPr marL="0" indent="0">
              <a:buNone/>
            </a:pPr>
            <a:r>
              <a:rPr lang="en-US" sz="1800" b="1" kern="0" spc="200" dirty="0">
                <a:solidFill>
                  <a:srgbClr val="F2B705"/>
                </a:solidFill>
                <a:latin typeface="Calibri" pitchFamily="34" charset="0"/>
                <a:ea typeface="Calibri" pitchFamily="34" charset="-122"/>
                <a:cs typeface="Calibri" pitchFamily="34" charset="-120"/>
              </a:rPr>
              <a:t>IMPORTS &amp; FUNCTIONS</a:t>
            </a:r>
            <a:endParaRPr lang="en-US" sz="1800" dirty="0"/>
          </a:p>
        </p:txBody>
      </p:sp>
      <p:sp>
        <p:nvSpPr>
          <p:cNvPr id="5" name="Text 3"/>
          <p:cNvSpPr/>
          <p:nvPr/>
        </p:nvSpPr>
        <p:spPr>
          <a:xfrm>
            <a:off x="640080" y="2788920"/>
            <a:ext cx="10881360" cy="1371600"/>
          </a:xfrm>
          <a:prstGeom prst="rect">
            <a:avLst/>
          </a:prstGeom>
          <a:noFill/>
          <a:ln/>
        </p:spPr>
        <p:txBody>
          <a:bodyPr wrap="square"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INFO1 Mission 3 (S4)</a:t>
            </a:r>
            <a:endParaRPr lang="en-US" sz="5400" dirty="0"/>
          </a:p>
        </p:txBody>
      </p:sp>
      <p:sp>
        <p:nvSpPr>
          <p:cNvPr id="6" name="Text 4"/>
          <p:cNvSpPr/>
          <p:nvPr/>
        </p:nvSpPr>
        <p:spPr>
          <a:xfrm>
            <a:off x="640080" y="3977640"/>
            <a:ext cx="9144000" cy="548640"/>
          </a:xfrm>
          <a:prstGeom prst="rect">
            <a:avLst/>
          </a:prstGeom>
          <a:noFill/>
          <a:ln/>
        </p:spPr>
        <p:txBody>
          <a:bodyPr wrap="square" rtlCol="0" anchor="ctr"/>
          <a:lstStyle/>
          <a:p>
            <a:pPr marL="0" indent="0">
              <a:buNone/>
            </a:pPr>
            <a:r>
              <a:rPr lang="en-US" sz="2400" dirty="0">
                <a:solidFill>
                  <a:srgbClr val="B9C6E3"/>
                </a:solidFill>
                <a:latin typeface="Calibri" pitchFamily="34" charset="0"/>
                <a:ea typeface="Calibri" pitchFamily="34" charset="-122"/>
                <a:cs typeface="Calibri" pitchFamily="34" charset="-120"/>
              </a:rPr>
              <a:t>Jean-Luc Bibaud</a:t>
            </a:r>
            <a:endParaRPr lang="en-US" sz="2400" dirty="0"/>
          </a:p>
        </p:txBody>
      </p:sp>
      <p:pic>
        <p:nvPicPr>
          <p:cNvPr id="7" name="Image 0" descr="/home/claude/w/logo.png"/>
          <p:cNvPicPr>
            <a:picLocks noChangeAspect="1"/>
          </p:cNvPicPr>
          <p:nvPr/>
        </p:nvPicPr>
        <p:blipFill>
          <a:blip r:embed="rId3"/>
          <a:stretch>
            <a:fillRect/>
          </a:stretch>
        </p:blipFill>
        <p:spPr>
          <a:xfrm>
            <a:off x="640080" y="5989320"/>
            <a:ext cx="1554480" cy="52486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rtlCol="0" anchor="ctr"/>
          <a:lstStyle/>
          <a:p>
            <a:pPr marL="0" indent="0">
              <a:buNone/>
            </a:pPr>
            <a:r>
              <a:rPr lang="en-US" sz="1600" b="1" kern="0" spc="100" dirty="0">
                <a:solidFill>
                  <a:srgbClr val="E8A400"/>
                </a:solidFill>
                <a:latin typeface="Calibri" pitchFamily="34" charset="0"/>
                <a:ea typeface="Calibri" pitchFamily="34" charset="-122"/>
                <a:cs typeface="Calibri" pitchFamily="34" charset="-120"/>
              </a:rPr>
              <a:t>MODULES</a:t>
            </a:r>
            <a:endParaRPr lang="en-US" sz="1600" dirty="0"/>
          </a:p>
        </p:txBody>
      </p:sp>
      <p:sp>
        <p:nvSpPr>
          <p:cNvPr id="3" name="Text 1"/>
          <p:cNvSpPr/>
          <p:nvPr/>
        </p:nvSpPr>
        <p:spPr>
          <a:xfrm>
            <a:off x="640080" y="804672"/>
            <a:ext cx="10881360" cy="822960"/>
          </a:xfrm>
          <a:prstGeom prst="rect">
            <a:avLst/>
          </a:prstGeom>
          <a:noFill/>
          <a:ln/>
        </p:spPr>
        <p:txBody>
          <a:bodyPr wrap="square" rtlCol="0" anchor="ctr"/>
          <a:lstStyle/>
          <a:p>
            <a:pPr marL="0" indent="0">
              <a:buNone/>
            </a:pPr>
            <a:r>
              <a:rPr lang="en-US" sz="4000" b="1" dirty="0">
                <a:solidFill>
                  <a:srgbClr val="16213E"/>
                </a:solidFill>
                <a:latin typeface="Cambria" pitchFamily="34" charset="0"/>
                <a:ea typeface="Cambria" pitchFamily="34" charset="-122"/>
                <a:cs typeface="Cambria" pitchFamily="34" charset="-120"/>
              </a:rPr>
              <a:t>Imports</a:t>
            </a:r>
            <a:endParaRPr lang="en-US" sz="4000" dirty="0"/>
          </a:p>
        </p:txBody>
      </p:sp>
      <p:sp>
        <p:nvSpPr>
          <p:cNvPr id="4" name="Text 2"/>
          <p:cNvSpPr/>
          <p:nvPr/>
        </p:nvSpPr>
        <p:spPr>
          <a:xfrm>
            <a:off x="640080" y="1645920"/>
            <a:ext cx="10881360" cy="914400"/>
          </a:xfrm>
          <a:prstGeom prst="rect">
            <a:avLst/>
          </a:prstGeom>
          <a:noFill/>
          <a:ln/>
        </p:spPr>
        <p:txBody>
          <a:bodyPr wrap="square" rtlCol="0" anchor="t"/>
          <a:lstStyle/>
          <a:p>
            <a:pPr marL="0" indent="0">
              <a:spcAft>
                <a:spcPts val="600"/>
              </a:spcAft>
              <a:buNone/>
            </a:pPr>
            <a:r>
              <a:rPr lang="en-US" sz="2200" dirty="0">
                <a:solidFill>
                  <a:srgbClr val="16213E"/>
                </a:solidFill>
                <a:latin typeface="Calibri" pitchFamily="34" charset="0"/>
                <a:ea typeface="Calibri" pitchFamily="34" charset="-122"/>
                <a:cs typeface="Calibri" pitchFamily="34" charset="-120"/>
              </a:rPr>
              <a:t>What does importing actually do?</a:t>
            </a:r>
            <a:endParaRPr lang="en-US" sz="2200" dirty="0"/>
          </a:p>
          <a:p>
            <a:pPr marL="0" indent="0">
              <a:spcAft>
                <a:spcPts val="600"/>
              </a:spcAft>
              <a:buNone/>
            </a:pPr>
            <a:r>
              <a:rPr lang="en-US" sz="2200" dirty="0">
                <a:solidFill>
                  <a:srgbClr val="16213E"/>
                </a:solidFill>
                <a:latin typeface="Calibri" pitchFamily="34" charset="0"/>
                <a:ea typeface="Calibri" pitchFamily="34" charset="-122"/>
                <a:cs typeface="Calibri" pitchFamily="34" charset="-120"/>
              </a:rPr>
              <a:t>How do you partially import from a module in Python?</a:t>
            </a:r>
            <a:endParaRPr lang="en-US" sz="2200" dirty="0"/>
          </a:p>
        </p:txBody>
      </p:sp>
      <p:sp>
        <p:nvSpPr>
          <p:cNvPr id="5" name="Shape 3"/>
          <p:cNvSpPr/>
          <p:nvPr/>
        </p:nvSpPr>
        <p:spPr>
          <a:xfrm>
            <a:off x="640080" y="2743200"/>
            <a:ext cx="5303520" cy="3520440"/>
          </a:xfrm>
          <a:prstGeom prst="roundRect">
            <a:avLst>
              <a:gd name="adj" fmla="val 2597"/>
            </a:avLst>
          </a:prstGeom>
          <a:solidFill>
            <a:srgbClr val="16213E"/>
          </a:solidFill>
          <a:ln/>
          <a:effectLst>
            <a:outerShdw blurRad="114300" dist="38100" dir="5400000" algn="bl" rotWithShape="0">
              <a:srgbClr val="1B2A4A">
                <a:alpha val="18000"/>
              </a:srgbClr>
            </a:outerShdw>
          </a:effectLst>
        </p:spPr>
      </p:sp>
      <p:sp>
        <p:nvSpPr>
          <p:cNvPr id="6" name="Text 4"/>
          <p:cNvSpPr/>
          <p:nvPr/>
        </p:nvSpPr>
        <p:spPr>
          <a:xfrm>
            <a:off x="914400" y="3017520"/>
            <a:ext cx="4754880" cy="384048"/>
          </a:xfrm>
          <a:prstGeom prst="rect">
            <a:avLst/>
          </a:prstGeom>
          <a:noFill/>
          <a:ln/>
        </p:spPr>
        <p:txBody>
          <a:bodyPr wrap="square" lIns="0" tIns="0" rIns="0" bIns="0" rtlCol="0" anchor="ctr"/>
          <a:lstStyle/>
          <a:p>
            <a:pPr marL="0" indent="0">
              <a:buNone/>
            </a:pPr>
            <a:r>
              <a:rPr lang="en-US" sz="1800" dirty="0">
                <a:solidFill>
                  <a:srgbClr val="E6EDF3"/>
                </a:solidFill>
                <a:latin typeface="Courier New" pitchFamily="34" charset="0"/>
                <a:ea typeface="Courier New" pitchFamily="34" charset="-122"/>
                <a:cs typeface="Courier New" pitchFamily="34" charset="-120"/>
              </a:rPr>
              <a:t>from math import pi, tan</a:t>
            </a:r>
            <a:endParaRPr lang="en-US" sz="1800" dirty="0"/>
          </a:p>
        </p:txBody>
      </p:sp>
      <p:sp>
        <p:nvSpPr>
          <p:cNvPr id="7" name="Text 5"/>
          <p:cNvSpPr/>
          <p:nvPr/>
        </p:nvSpPr>
        <p:spPr>
          <a:xfrm>
            <a:off x="914400" y="3785616"/>
            <a:ext cx="4754880" cy="384048"/>
          </a:xfrm>
          <a:prstGeom prst="rect">
            <a:avLst/>
          </a:prstGeom>
          <a:noFill/>
          <a:ln/>
        </p:spPr>
        <p:txBody>
          <a:bodyPr wrap="square" lIns="0" tIns="0" rIns="0" bIns="0" rtlCol="0" anchor="ctr"/>
          <a:lstStyle/>
          <a:p>
            <a:pPr marL="0" indent="0">
              <a:buNone/>
            </a:pPr>
            <a:r>
              <a:rPr lang="en-US" sz="1800" dirty="0">
                <a:solidFill>
                  <a:srgbClr val="E6EDF3"/>
                </a:solidFill>
                <a:latin typeface="Courier New" pitchFamily="34" charset="0"/>
                <a:ea typeface="Courier New" pitchFamily="34" charset="-122"/>
                <a:cs typeface="Courier New" pitchFamily="34" charset="-120"/>
              </a:rPr>
              <a:t>print(pi)</a:t>
            </a:r>
            <a:endParaRPr lang="en-US" sz="1800" dirty="0"/>
          </a:p>
        </p:txBody>
      </p:sp>
      <p:sp>
        <p:nvSpPr>
          <p:cNvPr id="8" name="Text 6"/>
          <p:cNvSpPr/>
          <p:nvPr/>
        </p:nvSpPr>
        <p:spPr>
          <a:xfrm>
            <a:off x="914400" y="4553712"/>
            <a:ext cx="4754880" cy="384048"/>
          </a:xfrm>
          <a:prstGeom prst="rect">
            <a:avLst/>
          </a:prstGeom>
          <a:noFill/>
          <a:ln/>
        </p:spPr>
        <p:txBody>
          <a:bodyPr wrap="square" lIns="0" tIns="0" rIns="0" bIns="0" rtlCol="0" anchor="ctr"/>
          <a:lstStyle/>
          <a:p>
            <a:pPr marL="0" indent="0">
              <a:buNone/>
            </a:pPr>
            <a:r>
              <a:rPr lang="en-US" sz="1800" dirty="0">
                <a:solidFill>
                  <a:srgbClr val="E6EDF3"/>
                </a:solidFill>
                <a:latin typeface="Courier New" pitchFamily="34" charset="0"/>
                <a:ea typeface="Courier New" pitchFamily="34" charset="-122"/>
                <a:cs typeface="Courier New" pitchFamily="34" charset="-120"/>
              </a:rPr>
              <a:t>print(cos(90 * pi))</a:t>
            </a:r>
            <a:endParaRPr lang="en-US" sz="1800" dirty="0"/>
          </a:p>
        </p:txBody>
      </p:sp>
      <p:sp>
        <p:nvSpPr>
          <p:cNvPr id="9" name="ANS_1"/>
          <p:cNvSpPr/>
          <p:nvPr/>
        </p:nvSpPr>
        <p:spPr>
          <a:xfrm>
            <a:off x="914400" y="4169664"/>
            <a:ext cx="4754880" cy="384048"/>
          </a:xfrm>
          <a:prstGeom prst="rect">
            <a:avLst/>
          </a:prstGeom>
          <a:noFill/>
          <a:ln/>
        </p:spPr>
        <p:txBody>
          <a:bodyPr wrap="square" lIns="0" tIns="0" rIns="0" bIns="0" rtlCol="0" anchor="ctr"/>
          <a:lstStyle/>
          <a:p>
            <a:pPr marL="0" indent="0">
              <a:buNone/>
            </a:pPr>
            <a:r>
              <a:rPr lang="en-US" sz="1500" b="1" dirty="0">
                <a:solidFill>
                  <a:srgbClr val="F2B705"/>
                </a:solidFill>
                <a:latin typeface="Courier New" pitchFamily="34" charset="0"/>
                <a:ea typeface="Courier New" pitchFamily="34" charset="-122"/>
                <a:cs typeface="Courier New" pitchFamily="34" charset="-120"/>
              </a:rPr>
              <a:t>→ </a:t>
            </a:r>
            <a:r>
              <a:rPr lang="en-US" sz="1500" dirty="0">
                <a:solidFill>
                  <a:srgbClr val="7EE2A8"/>
                </a:solidFill>
                <a:latin typeface="Courier New" pitchFamily="34" charset="0"/>
                <a:ea typeface="Courier New" pitchFamily="34" charset="-122"/>
                <a:cs typeface="Courier New" pitchFamily="34" charset="-120"/>
              </a:rPr>
              <a:t>3.141592653589793</a:t>
            </a:r>
            <a:endParaRPr lang="en-US" sz="1500" dirty="0"/>
          </a:p>
        </p:txBody>
      </p:sp>
      <p:sp>
        <p:nvSpPr>
          <p:cNvPr id="10" name="ANS_2"/>
          <p:cNvSpPr/>
          <p:nvPr/>
        </p:nvSpPr>
        <p:spPr>
          <a:xfrm>
            <a:off x="914400" y="4937760"/>
            <a:ext cx="4754880" cy="384048"/>
          </a:xfrm>
          <a:prstGeom prst="rect">
            <a:avLst/>
          </a:prstGeom>
          <a:noFill/>
          <a:ln/>
        </p:spPr>
        <p:txBody>
          <a:bodyPr wrap="square" lIns="0" tIns="0" rIns="0" bIns="0" rtlCol="0" anchor="ctr"/>
          <a:lstStyle/>
          <a:p>
            <a:pPr marL="0" indent="0">
              <a:buNone/>
            </a:pPr>
            <a:r>
              <a:rPr lang="en-US" sz="1500" b="1" dirty="0">
                <a:solidFill>
                  <a:srgbClr val="F2B705"/>
                </a:solidFill>
                <a:latin typeface="Courier New" pitchFamily="34" charset="0"/>
                <a:ea typeface="Courier New" pitchFamily="34" charset="-122"/>
                <a:cs typeface="Courier New" pitchFamily="34" charset="-120"/>
              </a:rPr>
              <a:t>→ </a:t>
            </a:r>
            <a:r>
              <a:rPr lang="en-US" sz="1500" dirty="0">
                <a:solidFill>
                  <a:srgbClr val="FF8A80"/>
                </a:solidFill>
                <a:latin typeface="Courier New" pitchFamily="34" charset="0"/>
                <a:ea typeface="Courier New" pitchFamily="34" charset="-122"/>
                <a:cs typeface="Courier New" pitchFamily="34" charset="-120"/>
              </a:rPr>
              <a:t>NameError: name 'cos' is not defined</a:t>
            </a:r>
            <a:endParaRPr lang="en-US" sz="1500" dirty="0"/>
          </a:p>
        </p:txBody>
      </p:sp>
      <p:sp>
        <p:nvSpPr>
          <p:cNvPr id="11" name="Shape 9"/>
          <p:cNvSpPr/>
          <p:nvPr/>
        </p:nvSpPr>
        <p:spPr>
          <a:xfrm>
            <a:off x="6217920" y="2743200"/>
            <a:ext cx="5303520" cy="3520440"/>
          </a:xfrm>
          <a:prstGeom prst="roundRect">
            <a:avLst>
              <a:gd name="adj" fmla="val 2597"/>
            </a:avLst>
          </a:prstGeom>
          <a:solidFill>
            <a:srgbClr val="16213E"/>
          </a:solidFill>
          <a:ln/>
          <a:effectLst>
            <a:outerShdw blurRad="114300" dist="38100" dir="5400000" algn="bl" rotWithShape="0">
              <a:srgbClr val="1B2A4A">
                <a:alpha val="18000"/>
              </a:srgbClr>
            </a:outerShdw>
          </a:effectLst>
        </p:spPr>
      </p:sp>
      <p:sp>
        <p:nvSpPr>
          <p:cNvPr id="12" name="Text 10"/>
          <p:cNvSpPr/>
          <p:nvPr/>
        </p:nvSpPr>
        <p:spPr>
          <a:xfrm>
            <a:off x="6492240" y="3017520"/>
            <a:ext cx="4754880" cy="384048"/>
          </a:xfrm>
          <a:prstGeom prst="rect">
            <a:avLst/>
          </a:prstGeom>
          <a:noFill/>
          <a:ln/>
        </p:spPr>
        <p:txBody>
          <a:bodyPr wrap="square" lIns="0" tIns="0" rIns="0" bIns="0" rtlCol="0" anchor="ctr"/>
          <a:lstStyle/>
          <a:p>
            <a:pPr marL="0" indent="0">
              <a:buNone/>
            </a:pPr>
            <a:r>
              <a:rPr lang="en-US" sz="1800" dirty="0">
                <a:solidFill>
                  <a:srgbClr val="E6EDF3"/>
                </a:solidFill>
                <a:latin typeface="Courier New" pitchFamily="34" charset="0"/>
                <a:ea typeface="Courier New" pitchFamily="34" charset="-122"/>
                <a:cs typeface="Courier New" pitchFamily="34" charset="-120"/>
              </a:rPr>
              <a:t>import math</a:t>
            </a:r>
            <a:endParaRPr lang="en-US" sz="1800" dirty="0"/>
          </a:p>
        </p:txBody>
      </p:sp>
      <p:sp>
        <p:nvSpPr>
          <p:cNvPr id="13" name="Text 11"/>
          <p:cNvSpPr/>
          <p:nvPr/>
        </p:nvSpPr>
        <p:spPr>
          <a:xfrm>
            <a:off x="6492240" y="3785616"/>
            <a:ext cx="4754880" cy="384048"/>
          </a:xfrm>
          <a:prstGeom prst="rect">
            <a:avLst/>
          </a:prstGeom>
          <a:noFill/>
          <a:ln/>
        </p:spPr>
        <p:txBody>
          <a:bodyPr wrap="square" lIns="0" tIns="0" rIns="0" bIns="0" rtlCol="0" anchor="ctr"/>
          <a:lstStyle/>
          <a:p>
            <a:pPr marL="0" indent="0">
              <a:buNone/>
            </a:pPr>
            <a:r>
              <a:rPr lang="en-US" sz="1800" dirty="0">
                <a:solidFill>
                  <a:srgbClr val="E6EDF3"/>
                </a:solidFill>
                <a:latin typeface="Courier New" pitchFamily="34" charset="0"/>
                <a:ea typeface="Courier New" pitchFamily="34" charset="-122"/>
                <a:cs typeface="Courier New" pitchFamily="34" charset="-120"/>
              </a:rPr>
              <a:t>print(pi)</a:t>
            </a:r>
            <a:endParaRPr lang="en-US" sz="1800" dirty="0"/>
          </a:p>
        </p:txBody>
      </p:sp>
      <p:sp>
        <p:nvSpPr>
          <p:cNvPr id="14" name="Text 12"/>
          <p:cNvSpPr/>
          <p:nvPr/>
        </p:nvSpPr>
        <p:spPr>
          <a:xfrm>
            <a:off x="6492240" y="4553712"/>
            <a:ext cx="4754880" cy="384048"/>
          </a:xfrm>
          <a:prstGeom prst="rect">
            <a:avLst/>
          </a:prstGeom>
          <a:noFill/>
          <a:ln/>
        </p:spPr>
        <p:txBody>
          <a:bodyPr wrap="square" lIns="0" tIns="0" rIns="0" bIns="0" rtlCol="0" anchor="ctr"/>
          <a:lstStyle/>
          <a:p>
            <a:pPr marL="0" indent="0">
              <a:buNone/>
            </a:pPr>
            <a:r>
              <a:rPr lang="en-US" sz="1800" dirty="0">
                <a:solidFill>
                  <a:srgbClr val="E6EDF3"/>
                </a:solidFill>
                <a:latin typeface="Courier New" pitchFamily="34" charset="0"/>
                <a:ea typeface="Courier New" pitchFamily="34" charset="-122"/>
                <a:cs typeface="Courier New" pitchFamily="34" charset="-120"/>
              </a:rPr>
              <a:t>print(math.pi)</a:t>
            </a:r>
            <a:endParaRPr lang="en-US" sz="1800" dirty="0"/>
          </a:p>
        </p:txBody>
      </p:sp>
      <p:sp>
        <p:nvSpPr>
          <p:cNvPr id="15" name="Text 13"/>
          <p:cNvSpPr/>
          <p:nvPr/>
        </p:nvSpPr>
        <p:spPr>
          <a:xfrm>
            <a:off x="6492240" y="5321808"/>
            <a:ext cx="4754880" cy="384048"/>
          </a:xfrm>
          <a:prstGeom prst="rect">
            <a:avLst/>
          </a:prstGeom>
          <a:noFill/>
          <a:ln/>
        </p:spPr>
        <p:txBody>
          <a:bodyPr wrap="square" lIns="0" tIns="0" rIns="0" bIns="0" rtlCol="0" anchor="ctr"/>
          <a:lstStyle/>
          <a:p>
            <a:pPr marL="0" indent="0">
              <a:buNone/>
            </a:pPr>
            <a:r>
              <a:rPr lang="en-US" sz="1800" dirty="0">
                <a:solidFill>
                  <a:srgbClr val="E6EDF3"/>
                </a:solidFill>
                <a:latin typeface="Courier New" pitchFamily="34" charset="0"/>
                <a:ea typeface="Courier New" pitchFamily="34" charset="-122"/>
                <a:cs typeface="Courier New" pitchFamily="34" charset="-120"/>
              </a:rPr>
              <a:t>print(cos(90 * math.pi))</a:t>
            </a:r>
            <a:endParaRPr lang="en-US" sz="1800" dirty="0"/>
          </a:p>
        </p:txBody>
      </p:sp>
      <p:sp>
        <p:nvSpPr>
          <p:cNvPr id="16" name="ANS_3"/>
          <p:cNvSpPr/>
          <p:nvPr/>
        </p:nvSpPr>
        <p:spPr>
          <a:xfrm>
            <a:off x="6492240" y="4169664"/>
            <a:ext cx="4754880" cy="384048"/>
          </a:xfrm>
          <a:prstGeom prst="rect">
            <a:avLst/>
          </a:prstGeom>
          <a:noFill/>
          <a:ln/>
        </p:spPr>
        <p:txBody>
          <a:bodyPr wrap="square" lIns="0" tIns="0" rIns="0" bIns="0" rtlCol="0" anchor="ctr"/>
          <a:lstStyle/>
          <a:p>
            <a:pPr marL="0" indent="0">
              <a:buNone/>
            </a:pPr>
            <a:r>
              <a:rPr lang="en-US" sz="1500" b="1" dirty="0">
                <a:solidFill>
                  <a:srgbClr val="F2B705"/>
                </a:solidFill>
                <a:latin typeface="Courier New" pitchFamily="34" charset="0"/>
                <a:ea typeface="Courier New" pitchFamily="34" charset="-122"/>
                <a:cs typeface="Courier New" pitchFamily="34" charset="-120"/>
              </a:rPr>
              <a:t>→ </a:t>
            </a:r>
            <a:r>
              <a:rPr lang="en-US" sz="1500" dirty="0">
                <a:solidFill>
                  <a:srgbClr val="FF8A80"/>
                </a:solidFill>
                <a:latin typeface="Courier New" pitchFamily="34" charset="0"/>
                <a:ea typeface="Courier New" pitchFamily="34" charset="-122"/>
                <a:cs typeface="Courier New" pitchFamily="34" charset="-120"/>
              </a:rPr>
              <a:t>NameError: name 'pi' is not defined</a:t>
            </a:r>
            <a:endParaRPr lang="en-US" sz="1500" dirty="0"/>
          </a:p>
        </p:txBody>
      </p:sp>
      <p:sp>
        <p:nvSpPr>
          <p:cNvPr id="17" name="ANS_4"/>
          <p:cNvSpPr/>
          <p:nvPr/>
        </p:nvSpPr>
        <p:spPr>
          <a:xfrm>
            <a:off x="6492240" y="4937760"/>
            <a:ext cx="4754880" cy="384048"/>
          </a:xfrm>
          <a:prstGeom prst="rect">
            <a:avLst/>
          </a:prstGeom>
          <a:noFill/>
          <a:ln/>
        </p:spPr>
        <p:txBody>
          <a:bodyPr wrap="square" lIns="0" tIns="0" rIns="0" bIns="0" rtlCol="0" anchor="ctr"/>
          <a:lstStyle/>
          <a:p>
            <a:pPr marL="0" indent="0">
              <a:buNone/>
            </a:pPr>
            <a:r>
              <a:rPr lang="en-US" sz="1500" b="1" dirty="0">
                <a:solidFill>
                  <a:srgbClr val="F2B705"/>
                </a:solidFill>
                <a:latin typeface="Courier New" pitchFamily="34" charset="0"/>
                <a:ea typeface="Courier New" pitchFamily="34" charset="-122"/>
                <a:cs typeface="Courier New" pitchFamily="34" charset="-120"/>
              </a:rPr>
              <a:t>→ </a:t>
            </a:r>
            <a:r>
              <a:rPr lang="en-US" sz="1500" dirty="0">
                <a:solidFill>
                  <a:srgbClr val="7EE2A8"/>
                </a:solidFill>
                <a:latin typeface="Courier New" pitchFamily="34" charset="0"/>
                <a:ea typeface="Courier New" pitchFamily="34" charset="-122"/>
                <a:cs typeface="Courier New" pitchFamily="34" charset="-120"/>
              </a:rPr>
              <a:t>3.141592653589793</a:t>
            </a:r>
            <a:endParaRPr lang="en-US" sz="1500" dirty="0"/>
          </a:p>
        </p:txBody>
      </p:sp>
      <p:sp>
        <p:nvSpPr>
          <p:cNvPr id="18" name="ANS_5"/>
          <p:cNvSpPr/>
          <p:nvPr/>
        </p:nvSpPr>
        <p:spPr>
          <a:xfrm>
            <a:off x="6492240" y="5705856"/>
            <a:ext cx="4754880" cy="384048"/>
          </a:xfrm>
          <a:prstGeom prst="rect">
            <a:avLst/>
          </a:prstGeom>
          <a:noFill/>
          <a:ln/>
        </p:spPr>
        <p:txBody>
          <a:bodyPr wrap="square" lIns="0" tIns="0" rIns="0" bIns="0" rtlCol="0" anchor="ctr"/>
          <a:lstStyle/>
          <a:p>
            <a:pPr marL="0" indent="0">
              <a:buNone/>
            </a:pPr>
            <a:r>
              <a:rPr lang="en-US" sz="1500" b="1" dirty="0">
                <a:solidFill>
                  <a:srgbClr val="F2B705"/>
                </a:solidFill>
                <a:latin typeface="Courier New" pitchFamily="34" charset="0"/>
                <a:ea typeface="Courier New" pitchFamily="34" charset="-122"/>
                <a:cs typeface="Courier New" pitchFamily="34" charset="-120"/>
              </a:rPr>
              <a:t>→ </a:t>
            </a:r>
            <a:r>
              <a:rPr lang="en-US" sz="1500" dirty="0">
                <a:solidFill>
                  <a:srgbClr val="FF8A80"/>
                </a:solidFill>
                <a:latin typeface="Courier New" pitchFamily="34" charset="0"/>
                <a:ea typeface="Courier New" pitchFamily="34" charset="-122"/>
                <a:cs typeface="Courier New" pitchFamily="34" charset="-120"/>
              </a:rPr>
              <a:t>NameError: name 'cos' is not defined</a:t>
            </a:r>
            <a:endParaRPr lang="en-US" sz="1500" dirty="0"/>
          </a:p>
        </p:txBody>
      </p:sp>
      <p:sp>
        <p:nvSpPr>
          <p:cNvPr id="19" name="Text 17"/>
          <p:cNvSpPr/>
          <p:nvPr/>
        </p:nvSpPr>
        <p:spPr>
          <a:xfrm>
            <a:off x="640080" y="6510528"/>
            <a:ext cx="4572000" cy="274320"/>
          </a:xfrm>
          <a:prstGeom prst="rect">
            <a:avLst/>
          </a:prstGeom>
          <a:noFill/>
          <a:ln/>
        </p:spPr>
        <p:txBody>
          <a:bodyPr wrap="square" rtlCol="0" anchor="ctr"/>
          <a:lstStyle/>
          <a:p>
            <a:pPr marL="0" indent="0">
              <a:buNone/>
            </a:pPr>
            <a:r>
              <a:rPr lang="en-US" sz="1200" dirty="0">
                <a:solidFill>
                  <a:srgbClr val="4A5568"/>
                </a:solidFill>
                <a:latin typeface="Calibri" pitchFamily="34" charset="0"/>
                <a:ea typeface="Calibri" pitchFamily="34" charset="-122"/>
                <a:cs typeface="Calibri" pitchFamily="34" charset="-120"/>
              </a:rPr>
              <a:t>INFO1 · Mission 3 (S4)</a:t>
            </a:r>
            <a:endParaRPr lang="en-US" sz="1200" dirty="0"/>
          </a:p>
        </p:txBody>
      </p:sp>
      <p:sp>
        <p:nvSpPr>
          <p:cNvPr id="20" name="Text 18"/>
          <p:cNvSpPr/>
          <p:nvPr/>
        </p:nvSpPr>
        <p:spPr>
          <a:xfrm>
            <a:off x="10180015" y="6510528"/>
            <a:ext cx="1371600" cy="274320"/>
          </a:xfrm>
          <a:prstGeom prst="rect">
            <a:avLst/>
          </a:prstGeom>
          <a:noFill/>
          <a:ln/>
        </p:spPr>
        <p:txBody>
          <a:bodyPr wrap="square" rtlCol="0" anchor="ctr"/>
          <a:lstStyle/>
          <a:p>
            <a:pPr marL="0" indent="0" algn="r">
              <a:buNone/>
            </a:pPr>
            <a:r>
              <a:rPr lang="en-US" sz="1200" dirty="0">
                <a:solidFill>
                  <a:srgbClr val="4A5568"/>
                </a:solidFill>
                <a:latin typeface="Calibri" pitchFamily="34" charset="0"/>
                <a:ea typeface="Calibri" pitchFamily="34" charset="-122"/>
                <a:cs typeface="Calibri" pitchFamily="34" charset="-120"/>
              </a:rPr>
              <a:t>2 / 6</a:t>
            </a:r>
            <a:endParaRPr lang="en-US" sz="1200" dirty="0"/>
          </a:p>
        </p:txBody>
      </p:sp>
    </p:spTree>
  </p:cSld>
  <p:clrMapOvr>
    <a:masterClrMapping/>
  </p:clrMapOvr>
  <p:timing>
    <p:tnLst>
      <p:par>
        <p:cTn id="1" dur="indefinite" restart="never" nodeType="tmRoot">
          <p:childTnLst>
            <p:seq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4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6" grpId="0" animBg="1"/>
      <p:bldP spid="17" grpId="0" animBg="1"/>
      <p:bldP spid="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rtlCol="0" anchor="ctr"/>
          <a:lstStyle/>
          <a:p>
            <a:pPr marL="0" indent="0">
              <a:buNone/>
            </a:pPr>
            <a:r>
              <a:rPr lang="en-US" sz="1600" b="1" kern="0" spc="100" dirty="0">
                <a:solidFill>
                  <a:srgbClr val="E8A400"/>
                </a:solidFill>
                <a:latin typeface="Calibri" pitchFamily="34" charset="0"/>
                <a:ea typeface="Calibri" pitchFamily="34" charset="-122"/>
                <a:cs typeface="Calibri" pitchFamily="34" charset="-120"/>
              </a:rPr>
              <a:t>FUNCTIONS</a:t>
            </a:r>
            <a:endParaRPr lang="en-US" sz="1600" dirty="0"/>
          </a:p>
        </p:txBody>
      </p:sp>
      <p:sp>
        <p:nvSpPr>
          <p:cNvPr id="3" name="Text 1"/>
          <p:cNvSpPr/>
          <p:nvPr/>
        </p:nvSpPr>
        <p:spPr>
          <a:xfrm>
            <a:off x="640080" y="804672"/>
            <a:ext cx="10881360" cy="822960"/>
          </a:xfrm>
          <a:prstGeom prst="rect">
            <a:avLst/>
          </a:prstGeom>
          <a:noFill/>
          <a:ln/>
        </p:spPr>
        <p:txBody>
          <a:bodyPr wrap="square" rtlCol="0" anchor="ctr"/>
          <a:lstStyle/>
          <a:p>
            <a:pPr marL="0" indent="0">
              <a:buNone/>
            </a:pPr>
            <a:r>
              <a:rPr lang="en-US" sz="4000" b="1" dirty="0">
                <a:solidFill>
                  <a:srgbClr val="16213E"/>
                </a:solidFill>
                <a:latin typeface="Cambria" pitchFamily="34" charset="0"/>
                <a:ea typeface="Cambria" pitchFamily="34" charset="-122"/>
                <a:cs typeface="Cambria" pitchFamily="34" charset="-120"/>
              </a:rPr>
              <a:t>Functions reminder</a:t>
            </a:r>
            <a:endParaRPr lang="en-US" sz="4000" dirty="0"/>
          </a:p>
        </p:txBody>
      </p:sp>
      <p:sp>
        <p:nvSpPr>
          <p:cNvPr id="4" name="Shape 2"/>
          <p:cNvSpPr/>
          <p:nvPr/>
        </p:nvSpPr>
        <p:spPr>
          <a:xfrm>
            <a:off x="640080" y="1828800"/>
            <a:ext cx="6035040" cy="2194560"/>
          </a:xfrm>
          <a:prstGeom prst="roundRect">
            <a:avLst>
              <a:gd name="adj" fmla="val 4167"/>
            </a:avLst>
          </a:prstGeom>
          <a:solidFill>
            <a:srgbClr val="16213E"/>
          </a:solidFill>
          <a:ln/>
          <a:effectLst>
            <a:outerShdw blurRad="114300" dist="38100" dir="5400000" algn="bl" rotWithShape="0">
              <a:srgbClr val="1B2A4A">
                <a:alpha val="18000"/>
              </a:srgbClr>
            </a:outerShdw>
          </a:effectLst>
        </p:spPr>
      </p:sp>
      <p:sp>
        <p:nvSpPr>
          <p:cNvPr id="5" name="Text 3"/>
          <p:cNvSpPr/>
          <p:nvPr/>
        </p:nvSpPr>
        <p:spPr>
          <a:xfrm>
            <a:off x="1005840" y="2194560"/>
            <a:ext cx="5303520" cy="502920"/>
          </a:xfrm>
          <a:prstGeom prst="rect">
            <a:avLst/>
          </a:prstGeom>
          <a:noFill/>
          <a:ln/>
        </p:spPr>
        <p:txBody>
          <a:bodyPr wrap="square" lIns="0" tIns="0" rIns="0" bIns="0" rtlCol="0" anchor="ctr"/>
          <a:lstStyle/>
          <a:p>
            <a:pPr marL="0" indent="0">
              <a:buNone/>
            </a:pPr>
            <a:r>
              <a:rPr lang="en-US" sz="2400" dirty="0">
                <a:solidFill>
                  <a:srgbClr val="E6EDF3"/>
                </a:solidFill>
                <a:latin typeface="Courier New" pitchFamily="34" charset="0"/>
                <a:ea typeface="Courier New" pitchFamily="34" charset="-122"/>
                <a:cs typeface="Courier New" pitchFamily="34" charset="-120"/>
              </a:rPr>
              <a:t>def NAME(PARAMETERS):</a:t>
            </a:r>
            <a:endParaRPr lang="en-US" sz="2400" dirty="0"/>
          </a:p>
        </p:txBody>
      </p:sp>
      <p:sp>
        <p:nvSpPr>
          <p:cNvPr id="6" name="Text 4"/>
          <p:cNvSpPr/>
          <p:nvPr/>
        </p:nvSpPr>
        <p:spPr>
          <a:xfrm>
            <a:off x="1005840" y="2697480"/>
            <a:ext cx="5303520" cy="502920"/>
          </a:xfrm>
          <a:prstGeom prst="rect">
            <a:avLst/>
          </a:prstGeom>
          <a:noFill/>
          <a:ln/>
        </p:spPr>
        <p:txBody>
          <a:bodyPr wrap="square" lIns="0" tIns="0" rIns="0" bIns="0" rtlCol="0" anchor="ctr"/>
          <a:lstStyle/>
          <a:p>
            <a:pPr marL="0" indent="0">
              <a:buNone/>
            </a:pPr>
            <a:r>
              <a:rPr lang="en-US" sz="2400" dirty="0">
                <a:solidFill>
                  <a:srgbClr val="E6EDF3"/>
                </a:solidFill>
                <a:latin typeface="Courier New" pitchFamily="34" charset="0"/>
                <a:ea typeface="Courier New" pitchFamily="34" charset="-122"/>
                <a:cs typeface="Courier New" pitchFamily="34" charset="-120"/>
              </a:rPr>
              <a:t>    STATEMENTS</a:t>
            </a:r>
            <a:endParaRPr lang="en-US" sz="2400" dirty="0"/>
          </a:p>
        </p:txBody>
      </p:sp>
      <p:sp>
        <p:nvSpPr>
          <p:cNvPr id="7" name="Text 5"/>
          <p:cNvSpPr/>
          <p:nvPr/>
        </p:nvSpPr>
        <p:spPr>
          <a:xfrm>
            <a:off x="1005840" y="3200400"/>
            <a:ext cx="5303520" cy="502920"/>
          </a:xfrm>
          <a:prstGeom prst="rect">
            <a:avLst/>
          </a:prstGeom>
          <a:noFill/>
          <a:ln/>
        </p:spPr>
        <p:txBody>
          <a:bodyPr wrap="square" lIns="0" tIns="0" rIns="0" bIns="0" rtlCol="0" anchor="ctr"/>
          <a:lstStyle/>
          <a:p>
            <a:pPr marL="0" indent="0">
              <a:buNone/>
            </a:pPr>
            <a:r>
              <a:rPr lang="en-US" sz="2400" dirty="0">
                <a:solidFill>
                  <a:srgbClr val="E6EDF3"/>
                </a:solidFill>
                <a:latin typeface="Courier New" pitchFamily="34" charset="0"/>
                <a:ea typeface="Courier New" pitchFamily="34" charset="-122"/>
                <a:cs typeface="Courier New" pitchFamily="34" charset="-120"/>
              </a:rPr>
              <a:t>    return VALUE</a:t>
            </a:r>
            <a:r>
              <a:rPr lang="en-US" sz="2400" dirty="0">
                <a:solidFill>
                  <a:srgbClr val="F2B705"/>
                </a:solidFill>
                <a:latin typeface="Courier New" pitchFamily="34" charset="0"/>
                <a:ea typeface="Courier New" pitchFamily="34" charset="-122"/>
                <a:cs typeface="Courier New" pitchFamily="34" charset="-120"/>
              </a:rPr>
              <a:t>   # optional</a:t>
            </a:r>
            <a:endParaRPr lang="en-US" sz="2400" dirty="0"/>
          </a:p>
        </p:txBody>
      </p:sp>
      <p:sp>
        <p:nvSpPr>
          <p:cNvPr id="8" name="Text 6"/>
          <p:cNvSpPr/>
          <p:nvPr/>
        </p:nvSpPr>
        <p:spPr>
          <a:xfrm>
            <a:off x="640080" y="4160520"/>
            <a:ext cx="6035040" cy="457200"/>
          </a:xfrm>
          <a:prstGeom prst="rect">
            <a:avLst/>
          </a:prstGeom>
          <a:noFill/>
          <a:ln/>
        </p:spPr>
        <p:txBody>
          <a:bodyPr wrap="square" rtlCol="0" anchor="ctr"/>
          <a:lstStyle/>
          <a:p>
            <a:pPr marL="0" indent="0">
              <a:buNone/>
            </a:pPr>
            <a:r>
              <a:rPr lang="en-US" sz="2000" i="1" dirty="0">
                <a:solidFill>
                  <a:srgbClr val="4A5568"/>
                </a:solidFill>
                <a:latin typeface="Calibri" pitchFamily="34" charset="0"/>
                <a:ea typeface="Calibri" pitchFamily="34" charset="-122"/>
                <a:cs typeface="Calibri" pitchFamily="34" charset="-120"/>
              </a:rPr>
              <a:t>Without a return, the function gives back None.</a:t>
            </a:r>
            <a:endParaRPr lang="en-US" sz="2000" dirty="0"/>
          </a:p>
        </p:txBody>
      </p:sp>
      <p:sp>
        <p:nvSpPr>
          <p:cNvPr id="9" name="Shape 7"/>
          <p:cNvSpPr/>
          <p:nvPr/>
        </p:nvSpPr>
        <p:spPr>
          <a:xfrm>
            <a:off x="7132320" y="1828800"/>
            <a:ext cx="4419295" cy="2788920"/>
          </a:xfrm>
          <a:prstGeom prst="roundRect">
            <a:avLst>
              <a:gd name="adj" fmla="val 3279"/>
            </a:avLst>
          </a:prstGeom>
          <a:solidFill>
            <a:srgbClr val="FFFFFF"/>
          </a:solidFill>
          <a:ln/>
          <a:effectLst>
            <a:outerShdw blurRad="114300" dist="38100" dir="5400000" algn="bl" rotWithShape="0">
              <a:srgbClr val="1B2A4A">
                <a:alpha val="12000"/>
              </a:srgbClr>
            </a:outerShdw>
          </a:effectLst>
        </p:spPr>
      </p:sp>
      <p:sp>
        <p:nvSpPr>
          <p:cNvPr id="10" name="Text 8"/>
          <p:cNvSpPr/>
          <p:nvPr/>
        </p:nvSpPr>
        <p:spPr>
          <a:xfrm>
            <a:off x="7498080" y="2011680"/>
            <a:ext cx="3687775" cy="548640"/>
          </a:xfrm>
          <a:prstGeom prst="rect">
            <a:avLst/>
          </a:prstGeom>
          <a:noFill/>
          <a:ln/>
        </p:spPr>
        <p:txBody>
          <a:bodyPr wrap="square" rtlCol="0" anchor="ctr"/>
          <a:lstStyle/>
          <a:p>
            <a:pPr marL="0" indent="0">
              <a:buNone/>
            </a:pPr>
            <a:r>
              <a:rPr lang="en-US" sz="2600" b="1" dirty="0">
                <a:solidFill>
                  <a:srgbClr val="16213E"/>
                </a:solidFill>
                <a:latin typeface="Cambria" pitchFamily="34" charset="0"/>
                <a:ea typeface="Cambria" pitchFamily="34" charset="-122"/>
                <a:cs typeface="Cambria" pitchFamily="34" charset="-120"/>
              </a:rPr>
              <a:t>Invoking / calling</a:t>
            </a:r>
            <a:endParaRPr lang="en-US" sz="2600" dirty="0"/>
          </a:p>
        </p:txBody>
      </p:sp>
      <p:sp>
        <p:nvSpPr>
          <p:cNvPr id="11" name="Text 9"/>
          <p:cNvSpPr/>
          <p:nvPr/>
        </p:nvSpPr>
        <p:spPr>
          <a:xfrm>
            <a:off x="7498080" y="2560320"/>
            <a:ext cx="3687775" cy="822960"/>
          </a:xfrm>
          <a:prstGeom prst="rect">
            <a:avLst/>
          </a:prstGeom>
          <a:noFill/>
          <a:ln/>
        </p:spPr>
        <p:txBody>
          <a:bodyPr wrap="square" rtlCol="0" anchor="t"/>
          <a:lstStyle/>
          <a:p>
            <a:pPr marL="0" indent="0">
              <a:buNone/>
            </a:pPr>
            <a:r>
              <a:rPr lang="en-US" sz="2200" dirty="0">
                <a:solidFill>
                  <a:srgbClr val="16213E"/>
                </a:solidFill>
                <a:latin typeface="Calibri" pitchFamily="34" charset="0"/>
                <a:ea typeface="Calibri" pitchFamily="34" charset="-122"/>
                <a:cs typeface="Calibri" pitchFamily="34" charset="-120"/>
              </a:rPr>
              <a:t>= executing the code of that function</a:t>
            </a:r>
            <a:endParaRPr lang="en-US" sz="2200" dirty="0"/>
          </a:p>
        </p:txBody>
      </p:sp>
      <p:sp>
        <p:nvSpPr>
          <p:cNvPr id="12" name="Shape 10"/>
          <p:cNvSpPr/>
          <p:nvPr/>
        </p:nvSpPr>
        <p:spPr>
          <a:xfrm>
            <a:off x="7498080" y="3520440"/>
            <a:ext cx="3687775" cy="777240"/>
          </a:xfrm>
          <a:prstGeom prst="roundRect">
            <a:avLst>
              <a:gd name="adj" fmla="val 11765"/>
            </a:avLst>
          </a:prstGeom>
          <a:solidFill>
            <a:srgbClr val="16213E"/>
          </a:solidFill>
          <a:ln/>
          <a:effectLst>
            <a:outerShdw blurRad="114300" dist="38100" dir="5400000" algn="bl" rotWithShape="0">
              <a:srgbClr val="1B2A4A">
                <a:alpha val="18000"/>
              </a:srgbClr>
            </a:outerShdw>
          </a:effectLst>
        </p:spPr>
      </p:sp>
      <p:sp>
        <p:nvSpPr>
          <p:cNvPr id="13" name="Text 11"/>
          <p:cNvSpPr/>
          <p:nvPr/>
        </p:nvSpPr>
        <p:spPr>
          <a:xfrm>
            <a:off x="7699248" y="3721608"/>
            <a:ext cx="3285439" cy="384048"/>
          </a:xfrm>
          <a:prstGeom prst="rect">
            <a:avLst/>
          </a:prstGeom>
          <a:noFill/>
          <a:ln/>
        </p:spPr>
        <p:txBody>
          <a:bodyPr wrap="square" lIns="0" tIns="0" rIns="0" bIns="0" rtlCol="0" anchor="ctr"/>
          <a:lstStyle/>
          <a:p>
            <a:pPr marL="0" indent="0">
              <a:buNone/>
            </a:pPr>
            <a:r>
              <a:rPr lang="en-US" sz="2200" dirty="0">
                <a:solidFill>
                  <a:srgbClr val="E6EDF3"/>
                </a:solidFill>
                <a:latin typeface="Courier New" pitchFamily="34" charset="0"/>
                <a:ea typeface="Courier New" pitchFamily="34" charset="-122"/>
                <a:cs typeface="Courier New" pitchFamily="34" charset="-120"/>
              </a:rPr>
              <a:t>NAME(ARGUMENTS)</a:t>
            </a:r>
            <a:endParaRPr lang="en-US" sz="2200" dirty="0"/>
          </a:p>
        </p:txBody>
      </p:sp>
      <p:sp>
        <p:nvSpPr>
          <p:cNvPr id="14" name="Shape 12"/>
          <p:cNvSpPr/>
          <p:nvPr/>
        </p:nvSpPr>
        <p:spPr>
          <a:xfrm>
            <a:off x="640080" y="4983480"/>
            <a:ext cx="10881360" cy="1188720"/>
          </a:xfrm>
          <a:prstGeom prst="roundRect">
            <a:avLst>
              <a:gd name="adj" fmla="val 7692"/>
            </a:avLst>
          </a:prstGeom>
          <a:solidFill>
            <a:srgbClr val="FCEED3"/>
          </a:solidFill>
          <a:ln/>
        </p:spPr>
      </p:sp>
      <p:sp>
        <p:nvSpPr>
          <p:cNvPr id="15" name="Text 13"/>
          <p:cNvSpPr/>
          <p:nvPr/>
        </p:nvSpPr>
        <p:spPr>
          <a:xfrm>
            <a:off x="1005840" y="4983480"/>
            <a:ext cx="10149840" cy="1188720"/>
          </a:xfrm>
          <a:prstGeom prst="rect">
            <a:avLst/>
          </a:prstGeom>
          <a:noFill/>
          <a:ln/>
        </p:spPr>
        <p:txBody>
          <a:bodyPr wrap="square" rtlCol="0" anchor="ctr"/>
          <a:lstStyle/>
          <a:p>
            <a:pPr marL="0" indent="0">
              <a:buNone/>
            </a:pPr>
            <a:r>
              <a:rPr lang="en-US" sz="2400" b="1" dirty="0">
                <a:solidFill>
                  <a:srgbClr val="B7791F"/>
                </a:solidFill>
                <a:latin typeface="Calibri" pitchFamily="34" charset="0"/>
                <a:ea typeface="Calibri" pitchFamily="34" charset="-122"/>
                <a:cs typeface="Calibri" pitchFamily="34" charset="-120"/>
              </a:rPr>
              <a:t>You already do this!  </a:t>
            </a:r>
            <a:r>
              <a:rPr lang="en-US" sz="2400" dirty="0">
                <a:solidFill>
                  <a:srgbClr val="16213E"/>
                </a:solidFill>
                <a:latin typeface="Calibri" pitchFamily="34" charset="0"/>
                <a:ea typeface="Calibri" pitchFamily="34" charset="-122"/>
                <a:cs typeface="Calibri" pitchFamily="34" charset="-120"/>
              </a:rPr>
              <a:t>print(), range(), type(), len() … are all functions.</a:t>
            </a:r>
            <a:endParaRPr lang="en-US" sz="2400" dirty="0"/>
          </a:p>
        </p:txBody>
      </p:sp>
      <p:sp>
        <p:nvSpPr>
          <p:cNvPr id="16" name="Text 14"/>
          <p:cNvSpPr/>
          <p:nvPr/>
        </p:nvSpPr>
        <p:spPr>
          <a:xfrm>
            <a:off x="640080" y="6510528"/>
            <a:ext cx="4572000" cy="274320"/>
          </a:xfrm>
          <a:prstGeom prst="rect">
            <a:avLst/>
          </a:prstGeom>
          <a:noFill/>
          <a:ln/>
        </p:spPr>
        <p:txBody>
          <a:bodyPr wrap="square" rtlCol="0" anchor="ctr"/>
          <a:lstStyle/>
          <a:p>
            <a:pPr marL="0" indent="0">
              <a:buNone/>
            </a:pPr>
            <a:r>
              <a:rPr lang="en-US" sz="1200" dirty="0">
                <a:solidFill>
                  <a:srgbClr val="4A5568"/>
                </a:solidFill>
                <a:latin typeface="Calibri" pitchFamily="34" charset="0"/>
                <a:ea typeface="Calibri" pitchFamily="34" charset="-122"/>
                <a:cs typeface="Calibri" pitchFamily="34" charset="-120"/>
              </a:rPr>
              <a:t>INFO1 · Mission 3 (S4)</a:t>
            </a:r>
            <a:endParaRPr lang="en-US" sz="1200" dirty="0"/>
          </a:p>
        </p:txBody>
      </p:sp>
      <p:sp>
        <p:nvSpPr>
          <p:cNvPr id="17" name="Text 15"/>
          <p:cNvSpPr/>
          <p:nvPr/>
        </p:nvSpPr>
        <p:spPr>
          <a:xfrm>
            <a:off x="10180015" y="6510528"/>
            <a:ext cx="1371600" cy="274320"/>
          </a:xfrm>
          <a:prstGeom prst="rect">
            <a:avLst/>
          </a:prstGeom>
          <a:noFill/>
          <a:ln/>
        </p:spPr>
        <p:txBody>
          <a:bodyPr wrap="square" rtlCol="0" anchor="ctr"/>
          <a:lstStyle/>
          <a:p>
            <a:pPr marL="0" indent="0" algn="r">
              <a:buNone/>
            </a:pPr>
            <a:r>
              <a:rPr lang="en-US" sz="1200" dirty="0">
                <a:solidFill>
                  <a:srgbClr val="4A5568"/>
                </a:solidFill>
                <a:latin typeface="Calibri" pitchFamily="34" charset="0"/>
                <a:ea typeface="Calibri" pitchFamily="34" charset="-122"/>
                <a:cs typeface="Calibri" pitchFamily="34" charset="-120"/>
              </a:rPr>
              <a:t>3 / 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rtlCol="0" anchor="ctr"/>
          <a:lstStyle/>
          <a:p>
            <a:pPr marL="0" indent="0">
              <a:buNone/>
            </a:pPr>
            <a:r>
              <a:rPr lang="en-US" sz="1600" b="1" kern="0" spc="100" dirty="0">
                <a:solidFill>
                  <a:srgbClr val="E8A400"/>
                </a:solidFill>
                <a:latin typeface="Calibri" pitchFamily="34" charset="0"/>
                <a:ea typeface="Calibri" pitchFamily="34" charset="-122"/>
                <a:cs typeface="Calibri" pitchFamily="34" charset="-120"/>
              </a:rPr>
              <a:t>FUNCTIONS</a:t>
            </a:r>
            <a:endParaRPr lang="en-US" sz="1600" dirty="0"/>
          </a:p>
        </p:txBody>
      </p:sp>
      <p:sp>
        <p:nvSpPr>
          <p:cNvPr id="3" name="Text 1"/>
          <p:cNvSpPr/>
          <p:nvPr/>
        </p:nvSpPr>
        <p:spPr>
          <a:xfrm>
            <a:off x="640080" y="804672"/>
            <a:ext cx="10881360" cy="822960"/>
          </a:xfrm>
          <a:prstGeom prst="rect">
            <a:avLst/>
          </a:prstGeom>
          <a:noFill/>
          <a:ln/>
        </p:spPr>
        <p:txBody>
          <a:bodyPr wrap="square" rtlCol="0" anchor="ctr"/>
          <a:lstStyle/>
          <a:p>
            <a:pPr marL="0" indent="0">
              <a:buNone/>
            </a:pPr>
            <a:r>
              <a:rPr lang="en-US" sz="3600" b="1" dirty="0">
                <a:solidFill>
                  <a:srgbClr val="16213E"/>
                </a:solidFill>
                <a:latin typeface="Cambria" pitchFamily="34" charset="0"/>
                <a:ea typeface="Cambria" pitchFamily="34" charset="-122"/>
                <a:cs typeface="Cambria" pitchFamily="34" charset="-120"/>
              </a:rPr>
              <a:t>Function variables are local (encapsulation)</a:t>
            </a:r>
            <a:endParaRPr lang="en-US" sz="3600" dirty="0"/>
          </a:p>
        </p:txBody>
      </p:sp>
      <p:sp>
        <p:nvSpPr>
          <p:cNvPr id="4" name="Shape 2"/>
          <p:cNvSpPr/>
          <p:nvPr/>
        </p:nvSpPr>
        <p:spPr>
          <a:xfrm>
            <a:off x="640080" y="1828800"/>
            <a:ext cx="6309360" cy="4389120"/>
          </a:xfrm>
          <a:prstGeom prst="roundRect">
            <a:avLst>
              <a:gd name="adj" fmla="val 2083"/>
            </a:avLst>
          </a:prstGeom>
          <a:solidFill>
            <a:srgbClr val="16213E"/>
          </a:solidFill>
          <a:ln/>
          <a:effectLst>
            <a:outerShdw blurRad="114300" dist="38100" dir="5400000" algn="bl" rotWithShape="0">
              <a:srgbClr val="1B2A4A">
                <a:alpha val="18000"/>
              </a:srgbClr>
            </a:outerShdw>
          </a:effectLst>
        </p:spPr>
      </p:sp>
      <p:sp>
        <p:nvSpPr>
          <p:cNvPr id="5" name="Text 3"/>
          <p:cNvSpPr/>
          <p:nvPr/>
        </p:nvSpPr>
        <p:spPr>
          <a:xfrm>
            <a:off x="960120" y="2148840"/>
            <a:ext cx="5669280" cy="420624"/>
          </a:xfrm>
          <a:prstGeom prst="rect">
            <a:avLst/>
          </a:prstGeom>
          <a:noFill/>
          <a:ln/>
        </p:spPr>
        <p:txBody>
          <a:bodyPr wrap="square" lIns="0" tIns="0" rIns="0" bIns="0" rtlCol="0" anchor="ctr"/>
          <a:lstStyle/>
          <a:p>
            <a:pPr marL="0" indent="0">
              <a:buNone/>
            </a:pPr>
            <a:r>
              <a:rPr lang="en-US" sz="1900" dirty="0">
                <a:solidFill>
                  <a:srgbClr val="E6EDF3"/>
                </a:solidFill>
                <a:latin typeface="Courier New" pitchFamily="34" charset="0"/>
                <a:ea typeface="Courier New" pitchFamily="34" charset="-122"/>
                <a:cs typeface="Courier New" pitchFamily="34" charset="-120"/>
              </a:rPr>
              <a:t>lebleu = "une couleur"</a:t>
            </a:r>
            <a:endParaRPr lang="en-US" sz="1900" dirty="0"/>
          </a:p>
        </p:txBody>
      </p:sp>
      <p:sp>
        <p:nvSpPr>
          <p:cNvPr id="6" name="Text 4"/>
          <p:cNvSpPr/>
          <p:nvPr/>
        </p:nvSpPr>
        <p:spPr>
          <a:xfrm>
            <a:off x="960120" y="2569464"/>
            <a:ext cx="5669280" cy="420624"/>
          </a:xfrm>
          <a:prstGeom prst="rect">
            <a:avLst/>
          </a:prstGeom>
          <a:noFill/>
          <a:ln/>
        </p:spPr>
        <p:txBody>
          <a:bodyPr wrap="square" lIns="0" tIns="0" rIns="0" bIns="0" rtlCol="0" anchor="ctr"/>
          <a:lstStyle/>
          <a:p>
            <a:pPr marL="0" indent="0">
              <a:buNone/>
            </a:pPr>
            <a:r>
              <a:rPr lang="en-US" sz="1900" dirty="0">
                <a:solidFill>
                  <a:srgbClr val="E6EDF3"/>
                </a:solidFill>
                <a:latin typeface="Courier New" pitchFamily="34" charset="0"/>
                <a:ea typeface="Courier New" pitchFamily="34" charset="-122"/>
                <a:cs typeface="Courier New" pitchFamily="34" charset="-120"/>
              </a:rPr>
              <a:t>print(lebleu)</a:t>
            </a:r>
            <a:r>
              <a:rPr lang="en-US" sz="1900" dirty="0">
                <a:solidFill>
                  <a:srgbClr val="F2B705"/>
                </a:solidFill>
                <a:latin typeface="Courier New" pitchFamily="34" charset="0"/>
                <a:ea typeface="Courier New" pitchFamily="34" charset="-122"/>
                <a:cs typeface="Courier New" pitchFamily="34" charset="-120"/>
              </a:rPr>
              <a:t>      # une couleur</a:t>
            </a:r>
            <a:endParaRPr lang="en-US" sz="1900" dirty="0"/>
          </a:p>
        </p:txBody>
      </p:sp>
      <p:sp>
        <p:nvSpPr>
          <p:cNvPr id="7" name="Text 5"/>
          <p:cNvSpPr/>
          <p:nvPr/>
        </p:nvSpPr>
        <p:spPr>
          <a:xfrm>
            <a:off x="960120" y="3410712"/>
            <a:ext cx="5669280" cy="420624"/>
          </a:xfrm>
          <a:prstGeom prst="rect">
            <a:avLst/>
          </a:prstGeom>
          <a:noFill/>
          <a:ln/>
        </p:spPr>
        <p:txBody>
          <a:bodyPr wrap="square" lIns="0" tIns="0" rIns="0" bIns="0" rtlCol="0" anchor="ctr"/>
          <a:lstStyle/>
          <a:p>
            <a:pPr marL="0" indent="0">
              <a:buNone/>
            </a:pPr>
            <a:r>
              <a:rPr lang="en-US" sz="1900" dirty="0">
                <a:solidFill>
                  <a:srgbClr val="E6EDF3"/>
                </a:solidFill>
                <a:latin typeface="Courier New" pitchFamily="34" charset="0"/>
                <a:ea typeface="Courier New" pitchFamily="34" charset="-122"/>
                <a:cs typeface="Courier New" pitchFamily="34" charset="-120"/>
              </a:rPr>
              <a:t>def lebapteme():</a:t>
            </a:r>
            <a:endParaRPr lang="en-US" sz="1900" dirty="0"/>
          </a:p>
        </p:txBody>
      </p:sp>
      <p:sp>
        <p:nvSpPr>
          <p:cNvPr id="8" name="Text 6"/>
          <p:cNvSpPr/>
          <p:nvPr/>
        </p:nvSpPr>
        <p:spPr>
          <a:xfrm>
            <a:off x="960120" y="3831336"/>
            <a:ext cx="5669280" cy="420624"/>
          </a:xfrm>
          <a:prstGeom prst="rect">
            <a:avLst/>
          </a:prstGeom>
          <a:noFill/>
          <a:ln/>
        </p:spPr>
        <p:txBody>
          <a:bodyPr wrap="square" lIns="0" tIns="0" rIns="0" bIns="0" rtlCol="0" anchor="ctr"/>
          <a:lstStyle/>
          <a:p>
            <a:pPr marL="0" indent="0">
              <a:buNone/>
            </a:pPr>
            <a:r>
              <a:rPr lang="en-US" sz="1900" dirty="0">
                <a:solidFill>
                  <a:srgbClr val="E6EDF3"/>
                </a:solidFill>
                <a:latin typeface="Courier New" pitchFamily="34" charset="0"/>
                <a:ea typeface="Courier New" pitchFamily="34" charset="-122"/>
                <a:cs typeface="Courier New" pitchFamily="34" charset="-120"/>
              </a:rPr>
              <a:t>    lebleu = "con"</a:t>
            </a:r>
            <a:endParaRPr lang="en-US" sz="1900" dirty="0"/>
          </a:p>
        </p:txBody>
      </p:sp>
      <p:sp>
        <p:nvSpPr>
          <p:cNvPr id="9" name="Text 7"/>
          <p:cNvSpPr/>
          <p:nvPr/>
        </p:nvSpPr>
        <p:spPr>
          <a:xfrm>
            <a:off x="960120" y="4251960"/>
            <a:ext cx="5669280" cy="420624"/>
          </a:xfrm>
          <a:prstGeom prst="rect">
            <a:avLst/>
          </a:prstGeom>
          <a:noFill/>
          <a:ln/>
        </p:spPr>
        <p:txBody>
          <a:bodyPr wrap="square" lIns="0" tIns="0" rIns="0" bIns="0" rtlCol="0" anchor="ctr"/>
          <a:lstStyle/>
          <a:p>
            <a:pPr marL="0" indent="0">
              <a:buNone/>
            </a:pPr>
            <a:r>
              <a:rPr lang="en-US" sz="1900" dirty="0">
                <a:solidFill>
                  <a:srgbClr val="E6EDF3"/>
                </a:solidFill>
                <a:latin typeface="Courier New" pitchFamily="34" charset="0"/>
                <a:ea typeface="Courier New" pitchFamily="34" charset="-122"/>
                <a:cs typeface="Courier New" pitchFamily="34" charset="-120"/>
              </a:rPr>
              <a:t>    print(lebleu)</a:t>
            </a:r>
            <a:endParaRPr lang="en-US" sz="1900" dirty="0"/>
          </a:p>
        </p:txBody>
      </p:sp>
      <p:sp>
        <p:nvSpPr>
          <p:cNvPr id="10" name="Text 8"/>
          <p:cNvSpPr/>
          <p:nvPr/>
        </p:nvSpPr>
        <p:spPr>
          <a:xfrm>
            <a:off x="960120" y="5093208"/>
            <a:ext cx="5669280" cy="420624"/>
          </a:xfrm>
          <a:prstGeom prst="rect">
            <a:avLst/>
          </a:prstGeom>
          <a:noFill/>
          <a:ln/>
        </p:spPr>
        <p:txBody>
          <a:bodyPr wrap="square" lIns="0" tIns="0" rIns="0" bIns="0" rtlCol="0" anchor="ctr"/>
          <a:lstStyle/>
          <a:p>
            <a:pPr marL="0" indent="0">
              <a:buNone/>
            </a:pPr>
            <a:r>
              <a:rPr lang="en-US" sz="1900" dirty="0">
                <a:solidFill>
                  <a:srgbClr val="E6EDF3"/>
                </a:solidFill>
                <a:latin typeface="Courier New" pitchFamily="34" charset="0"/>
                <a:ea typeface="Courier New" pitchFamily="34" charset="-122"/>
                <a:cs typeface="Courier New" pitchFamily="34" charset="-120"/>
              </a:rPr>
              <a:t>lebapteme()</a:t>
            </a:r>
            <a:r>
              <a:rPr lang="en-US" sz="1900" dirty="0">
                <a:solidFill>
                  <a:srgbClr val="F2B705"/>
                </a:solidFill>
                <a:latin typeface="Courier New" pitchFamily="34" charset="0"/>
                <a:ea typeface="Courier New" pitchFamily="34" charset="-122"/>
                <a:cs typeface="Courier New" pitchFamily="34" charset="-120"/>
              </a:rPr>
              <a:t>        # con</a:t>
            </a:r>
            <a:endParaRPr lang="en-US" sz="1900" dirty="0"/>
          </a:p>
        </p:txBody>
      </p:sp>
      <p:sp>
        <p:nvSpPr>
          <p:cNvPr id="11" name="Text 9"/>
          <p:cNvSpPr/>
          <p:nvPr/>
        </p:nvSpPr>
        <p:spPr>
          <a:xfrm>
            <a:off x="960120" y="5513832"/>
            <a:ext cx="5669280" cy="420624"/>
          </a:xfrm>
          <a:prstGeom prst="rect">
            <a:avLst/>
          </a:prstGeom>
          <a:noFill/>
          <a:ln/>
        </p:spPr>
        <p:txBody>
          <a:bodyPr wrap="square" lIns="0" tIns="0" rIns="0" bIns="0" rtlCol="0" anchor="ctr"/>
          <a:lstStyle/>
          <a:p>
            <a:pPr marL="0" indent="0">
              <a:buNone/>
            </a:pPr>
            <a:r>
              <a:rPr lang="en-US" sz="1900" dirty="0">
                <a:solidFill>
                  <a:srgbClr val="E6EDF3"/>
                </a:solidFill>
                <a:latin typeface="Courier New" pitchFamily="34" charset="0"/>
                <a:ea typeface="Courier New" pitchFamily="34" charset="-122"/>
                <a:cs typeface="Courier New" pitchFamily="34" charset="-120"/>
              </a:rPr>
              <a:t>print(lebleu)</a:t>
            </a:r>
            <a:r>
              <a:rPr lang="en-US" sz="1900" dirty="0">
                <a:solidFill>
                  <a:srgbClr val="F2B705"/>
                </a:solidFill>
                <a:latin typeface="Courier New" pitchFamily="34" charset="0"/>
                <a:ea typeface="Courier New" pitchFamily="34" charset="-122"/>
                <a:cs typeface="Courier New" pitchFamily="34" charset="-120"/>
              </a:rPr>
              <a:t>      # une couleur !</a:t>
            </a:r>
            <a:endParaRPr lang="en-US" sz="1900" dirty="0"/>
          </a:p>
        </p:txBody>
      </p:sp>
      <p:sp>
        <p:nvSpPr>
          <p:cNvPr id="12" name="Shape 10"/>
          <p:cNvSpPr/>
          <p:nvPr/>
        </p:nvSpPr>
        <p:spPr>
          <a:xfrm>
            <a:off x="7315200" y="1828800"/>
            <a:ext cx="4236415" cy="1600200"/>
          </a:xfrm>
          <a:prstGeom prst="roundRect">
            <a:avLst>
              <a:gd name="adj" fmla="val 5714"/>
            </a:avLst>
          </a:prstGeom>
          <a:solidFill>
            <a:srgbClr val="FFFFFF"/>
          </a:solidFill>
          <a:ln/>
          <a:effectLst>
            <a:outerShdw blurRad="114300" dist="38100" dir="5400000" algn="bl" rotWithShape="0">
              <a:srgbClr val="1B2A4A">
                <a:alpha val="12000"/>
              </a:srgbClr>
            </a:outerShdw>
          </a:effectLst>
        </p:spPr>
      </p:sp>
      <p:sp>
        <p:nvSpPr>
          <p:cNvPr id="13" name="Text 11"/>
          <p:cNvSpPr/>
          <p:nvPr/>
        </p:nvSpPr>
        <p:spPr>
          <a:xfrm>
            <a:off x="7635240" y="1828800"/>
            <a:ext cx="3596335" cy="1600200"/>
          </a:xfrm>
          <a:prstGeom prst="rect">
            <a:avLst/>
          </a:prstGeom>
          <a:noFill/>
          <a:ln/>
        </p:spPr>
        <p:txBody>
          <a:bodyPr wrap="square" rtlCol="0" anchor="ctr"/>
          <a:lstStyle/>
          <a:p>
            <a:pPr marL="0" indent="0">
              <a:buNone/>
            </a:pPr>
            <a:r>
              <a:rPr lang="en-US" sz="1900" dirty="0">
                <a:solidFill>
                  <a:srgbClr val="16213E"/>
                </a:solidFill>
                <a:latin typeface="Calibri" pitchFamily="34" charset="0"/>
                <a:ea typeface="Calibri" pitchFamily="34" charset="-122"/>
                <a:cs typeface="Calibri" pitchFamily="34" charset="-120"/>
              </a:rPr>
              <a:t>The lebleu inside the function is a </a:t>
            </a:r>
            <a:r>
              <a:rPr lang="en-US" sz="1900" b="1" dirty="0">
                <a:solidFill>
                  <a:srgbClr val="16213E"/>
                </a:solidFill>
                <a:latin typeface="Calibri" pitchFamily="34" charset="0"/>
                <a:ea typeface="Calibri" pitchFamily="34" charset="-122"/>
                <a:cs typeface="Calibri" pitchFamily="34" charset="-120"/>
              </a:rPr>
              <a:t>different variable</a:t>
            </a:r>
            <a:r>
              <a:rPr lang="en-US" sz="1900" dirty="0">
                <a:solidFill>
                  <a:srgbClr val="16213E"/>
                </a:solidFill>
                <a:latin typeface="Calibri" pitchFamily="34" charset="0"/>
                <a:ea typeface="Calibri" pitchFamily="34" charset="-122"/>
                <a:cs typeface="Calibri" pitchFamily="34" charset="-120"/>
              </a:rPr>
              <a:t>. It disappears when the function ends — the outside one is untouched.</a:t>
            </a:r>
            <a:endParaRPr lang="en-US" sz="1900" dirty="0"/>
          </a:p>
        </p:txBody>
      </p:sp>
      <p:sp>
        <p:nvSpPr>
          <p:cNvPr id="14" name="Shape 12"/>
          <p:cNvSpPr/>
          <p:nvPr/>
        </p:nvSpPr>
        <p:spPr>
          <a:xfrm>
            <a:off x="7315200" y="3611880"/>
            <a:ext cx="4236415" cy="2606040"/>
          </a:xfrm>
          <a:prstGeom prst="roundRect">
            <a:avLst>
              <a:gd name="adj" fmla="val 3509"/>
            </a:avLst>
          </a:prstGeom>
          <a:solidFill>
            <a:srgbClr val="FFFFFF"/>
          </a:solidFill>
          <a:ln/>
          <a:effectLst>
            <a:outerShdw blurRad="114300" dist="38100" dir="5400000" algn="bl" rotWithShape="0">
              <a:srgbClr val="1B2A4A">
                <a:alpha val="12000"/>
              </a:srgbClr>
            </a:outerShdw>
          </a:effectLst>
        </p:spPr>
      </p:sp>
      <p:sp>
        <p:nvSpPr>
          <p:cNvPr id="15" name="Text 13"/>
          <p:cNvSpPr/>
          <p:nvPr/>
        </p:nvSpPr>
        <p:spPr>
          <a:xfrm>
            <a:off x="7635240" y="3703320"/>
            <a:ext cx="3596335" cy="457200"/>
          </a:xfrm>
          <a:prstGeom prst="rect">
            <a:avLst/>
          </a:prstGeom>
          <a:noFill/>
          <a:ln/>
        </p:spPr>
        <p:txBody>
          <a:bodyPr wrap="square" rtlCol="0" anchor="ctr"/>
          <a:lstStyle/>
          <a:p>
            <a:pPr marL="0" indent="0">
              <a:buNone/>
            </a:pPr>
            <a:r>
              <a:rPr lang="en-US" sz="1900" b="1" dirty="0">
                <a:solidFill>
                  <a:srgbClr val="C0392B"/>
                </a:solidFill>
                <a:latin typeface="Calibri" pitchFamily="34" charset="0"/>
                <a:ea typeface="Calibri" pitchFamily="34" charset="-122"/>
                <a:cs typeface="Calibri" pitchFamily="34" charset="-120"/>
              </a:rPr>
              <a:t>⚠ Loops are NOT encapsulated</a:t>
            </a:r>
            <a:endParaRPr lang="en-US" sz="1900" dirty="0"/>
          </a:p>
        </p:txBody>
      </p:sp>
      <p:sp>
        <p:nvSpPr>
          <p:cNvPr id="16" name="Shape 14"/>
          <p:cNvSpPr/>
          <p:nvPr/>
        </p:nvSpPr>
        <p:spPr>
          <a:xfrm>
            <a:off x="7635240" y="4206240"/>
            <a:ext cx="3596335" cy="1234440"/>
          </a:xfrm>
          <a:prstGeom prst="roundRect">
            <a:avLst>
              <a:gd name="adj" fmla="val 7407"/>
            </a:avLst>
          </a:prstGeom>
          <a:solidFill>
            <a:srgbClr val="16213E"/>
          </a:solidFill>
          <a:ln/>
          <a:effectLst>
            <a:outerShdw blurRad="114300" dist="38100" dir="5400000" algn="bl" rotWithShape="0">
              <a:srgbClr val="1B2A4A">
                <a:alpha val="18000"/>
              </a:srgbClr>
            </a:outerShdw>
          </a:effectLst>
        </p:spPr>
      </p:sp>
      <p:sp>
        <p:nvSpPr>
          <p:cNvPr id="17" name="Text 15"/>
          <p:cNvSpPr/>
          <p:nvPr/>
        </p:nvSpPr>
        <p:spPr>
          <a:xfrm>
            <a:off x="7799832" y="4370832"/>
            <a:ext cx="3267151" cy="301752"/>
          </a:xfrm>
          <a:prstGeom prst="rect">
            <a:avLst/>
          </a:prstGeom>
          <a:noFill/>
          <a:ln/>
        </p:spPr>
        <p:txBody>
          <a:bodyPr wrap="square" lIns="0" tIns="0" rIns="0" bIns="0" rtlCol="0" anchor="ctr"/>
          <a:lstStyle/>
          <a:p>
            <a:pPr marL="0" indent="0">
              <a:buNone/>
            </a:pPr>
            <a:r>
              <a:rPr lang="en-US" sz="1600" dirty="0">
                <a:solidFill>
                  <a:srgbClr val="E6EDF3"/>
                </a:solidFill>
                <a:latin typeface="Courier New" pitchFamily="34" charset="0"/>
                <a:ea typeface="Courier New" pitchFamily="34" charset="-122"/>
                <a:cs typeface="Courier New" pitchFamily="34" charset="-120"/>
              </a:rPr>
              <a:t>for i in range(5):</a:t>
            </a:r>
            <a:endParaRPr lang="en-US" sz="1600" dirty="0"/>
          </a:p>
        </p:txBody>
      </p:sp>
      <p:sp>
        <p:nvSpPr>
          <p:cNvPr id="18" name="Text 16"/>
          <p:cNvSpPr/>
          <p:nvPr/>
        </p:nvSpPr>
        <p:spPr>
          <a:xfrm>
            <a:off x="7799832" y="4672584"/>
            <a:ext cx="3267151" cy="301752"/>
          </a:xfrm>
          <a:prstGeom prst="rect">
            <a:avLst/>
          </a:prstGeom>
          <a:noFill/>
          <a:ln/>
        </p:spPr>
        <p:txBody>
          <a:bodyPr wrap="square" lIns="0" tIns="0" rIns="0" bIns="0" rtlCol="0" anchor="ctr"/>
          <a:lstStyle/>
          <a:p>
            <a:pPr marL="0" indent="0">
              <a:buNone/>
            </a:pPr>
            <a:r>
              <a:rPr lang="en-US" sz="1600" dirty="0">
                <a:solidFill>
                  <a:srgbClr val="E6EDF3"/>
                </a:solidFill>
                <a:latin typeface="Courier New" pitchFamily="34" charset="0"/>
                <a:ea typeface="Courier New" pitchFamily="34" charset="-122"/>
                <a:cs typeface="Courier New" pitchFamily="34" charset="-120"/>
              </a:rPr>
              <a:t>    print(i)</a:t>
            </a:r>
            <a:endParaRPr lang="en-US" sz="1600" dirty="0"/>
          </a:p>
        </p:txBody>
      </p:sp>
      <p:sp>
        <p:nvSpPr>
          <p:cNvPr id="19" name="Text 17"/>
          <p:cNvSpPr/>
          <p:nvPr/>
        </p:nvSpPr>
        <p:spPr>
          <a:xfrm>
            <a:off x="7799832" y="4974336"/>
            <a:ext cx="3267151" cy="301752"/>
          </a:xfrm>
          <a:prstGeom prst="rect">
            <a:avLst/>
          </a:prstGeom>
          <a:noFill/>
          <a:ln/>
        </p:spPr>
        <p:txBody>
          <a:bodyPr wrap="square" lIns="0" tIns="0" rIns="0" bIns="0" rtlCol="0" anchor="ctr"/>
          <a:lstStyle/>
          <a:p>
            <a:pPr marL="0" indent="0">
              <a:buNone/>
            </a:pPr>
            <a:r>
              <a:rPr lang="en-US" sz="1600" dirty="0">
                <a:solidFill>
                  <a:srgbClr val="E6EDF3"/>
                </a:solidFill>
                <a:latin typeface="Courier New" pitchFamily="34" charset="0"/>
                <a:ea typeface="Courier New" pitchFamily="34" charset="-122"/>
                <a:cs typeface="Courier New" pitchFamily="34" charset="-120"/>
              </a:rPr>
              <a:t>print(i)</a:t>
            </a:r>
            <a:r>
              <a:rPr lang="en-US" sz="1600" dirty="0">
                <a:solidFill>
                  <a:srgbClr val="F2B705"/>
                </a:solidFill>
                <a:latin typeface="Courier New" pitchFamily="34" charset="0"/>
                <a:ea typeface="Courier New" pitchFamily="34" charset="-122"/>
                <a:cs typeface="Courier New" pitchFamily="34" charset="-120"/>
              </a:rPr>
              <a:t>   # 4</a:t>
            </a:r>
            <a:endParaRPr lang="en-US" sz="1600" dirty="0"/>
          </a:p>
        </p:txBody>
      </p:sp>
      <p:sp>
        <p:nvSpPr>
          <p:cNvPr id="20" name="Text 18"/>
          <p:cNvSpPr/>
          <p:nvPr/>
        </p:nvSpPr>
        <p:spPr>
          <a:xfrm>
            <a:off x="7635240" y="5486400"/>
            <a:ext cx="3596335" cy="685800"/>
          </a:xfrm>
          <a:prstGeom prst="rect">
            <a:avLst/>
          </a:prstGeom>
          <a:noFill/>
          <a:ln/>
        </p:spPr>
        <p:txBody>
          <a:bodyPr wrap="square" rtlCol="0" anchor="t"/>
          <a:lstStyle/>
          <a:p>
            <a:pPr marL="0" indent="0">
              <a:buNone/>
            </a:pPr>
            <a:r>
              <a:rPr lang="en-US" sz="1600" dirty="0">
                <a:solidFill>
                  <a:srgbClr val="4A5568"/>
                </a:solidFill>
                <a:latin typeface="Calibri" pitchFamily="34" charset="0"/>
                <a:ea typeface="Calibri" pitchFamily="34" charset="-122"/>
                <a:cs typeface="Calibri" pitchFamily="34" charset="-120"/>
              </a:rPr>
              <a:t>i still exists after the loop. Only functions get their own local variables.</a:t>
            </a:r>
            <a:endParaRPr lang="en-US" sz="1600" dirty="0"/>
          </a:p>
        </p:txBody>
      </p:sp>
      <p:sp>
        <p:nvSpPr>
          <p:cNvPr id="21" name="Text 19"/>
          <p:cNvSpPr/>
          <p:nvPr/>
        </p:nvSpPr>
        <p:spPr>
          <a:xfrm>
            <a:off x="640080" y="6510528"/>
            <a:ext cx="4572000" cy="274320"/>
          </a:xfrm>
          <a:prstGeom prst="rect">
            <a:avLst/>
          </a:prstGeom>
          <a:noFill/>
          <a:ln/>
        </p:spPr>
        <p:txBody>
          <a:bodyPr wrap="square" rtlCol="0" anchor="ctr"/>
          <a:lstStyle/>
          <a:p>
            <a:pPr marL="0" indent="0">
              <a:buNone/>
            </a:pPr>
            <a:r>
              <a:rPr lang="en-US" sz="1200" dirty="0">
                <a:solidFill>
                  <a:srgbClr val="4A5568"/>
                </a:solidFill>
                <a:latin typeface="Calibri" pitchFamily="34" charset="0"/>
                <a:ea typeface="Calibri" pitchFamily="34" charset="-122"/>
                <a:cs typeface="Calibri" pitchFamily="34" charset="-120"/>
              </a:rPr>
              <a:t>INFO1 · Mission 3 (S4)</a:t>
            </a:r>
            <a:endParaRPr lang="en-US" sz="1200" dirty="0"/>
          </a:p>
        </p:txBody>
      </p:sp>
      <p:sp>
        <p:nvSpPr>
          <p:cNvPr id="22" name="Text 20"/>
          <p:cNvSpPr/>
          <p:nvPr/>
        </p:nvSpPr>
        <p:spPr>
          <a:xfrm>
            <a:off x="10180015" y="6510528"/>
            <a:ext cx="1371600" cy="274320"/>
          </a:xfrm>
          <a:prstGeom prst="rect">
            <a:avLst/>
          </a:prstGeom>
          <a:noFill/>
          <a:ln/>
        </p:spPr>
        <p:txBody>
          <a:bodyPr wrap="square" rtlCol="0" anchor="ctr"/>
          <a:lstStyle/>
          <a:p>
            <a:pPr marL="0" indent="0" algn="r">
              <a:buNone/>
            </a:pPr>
            <a:r>
              <a:rPr lang="en-US" sz="1200" dirty="0">
                <a:solidFill>
                  <a:srgbClr val="4A5568"/>
                </a:solidFill>
                <a:latin typeface="Calibri" pitchFamily="34" charset="0"/>
                <a:ea typeface="Calibri" pitchFamily="34" charset="-122"/>
                <a:cs typeface="Calibri" pitchFamily="34" charset="-120"/>
              </a:rPr>
              <a:t>4 / 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rtlCol="0" anchor="ctr"/>
          <a:lstStyle/>
          <a:p>
            <a:pPr marL="0" indent="0">
              <a:buNone/>
            </a:pPr>
            <a:r>
              <a:rPr lang="en-US" sz="1600" b="1" kern="0" spc="100" dirty="0">
                <a:solidFill>
                  <a:srgbClr val="E8A400"/>
                </a:solidFill>
                <a:latin typeface="Calibri" pitchFamily="34" charset="0"/>
                <a:ea typeface="Calibri" pitchFamily="34" charset="-122"/>
                <a:cs typeface="Calibri" pitchFamily="34" charset="-120"/>
              </a:rPr>
              <a:t>FUNCTIONS</a:t>
            </a:r>
            <a:endParaRPr lang="en-US" sz="1600" dirty="0"/>
          </a:p>
        </p:txBody>
      </p:sp>
      <p:sp>
        <p:nvSpPr>
          <p:cNvPr id="3" name="Text 1"/>
          <p:cNvSpPr/>
          <p:nvPr/>
        </p:nvSpPr>
        <p:spPr>
          <a:xfrm>
            <a:off x="640080" y="804672"/>
            <a:ext cx="10881360" cy="822960"/>
          </a:xfrm>
          <a:prstGeom prst="rect">
            <a:avLst/>
          </a:prstGeom>
          <a:noFill/>
          <a:ln/>
        </p:spPr>
        <p:txBody>
          <a:bodyPr wrap="square" rtlCol="0" anchor="ctr"/>
          <a:lstStyle/>
          <a:p>
            <a:pPr marL="0" indent="0">
              <a:buNone/>
            </a:pPr>
            <a:r>
              <a:rPr lang="en-US" sz="4000" b="1" dirty="0">
                <a:solidFill>
                  <a:srgbClr val="16213E"/>
                </a:solidFill>
                <a:latin typeface="Cambria" pitchFamily="34" charset="0"/>
                <a:ea typeface="Cambria" pitchFamily="34" charset="-122"/>
                <a:cs typeface="Cambria" pitchFamily="34" charset="-120"/>
              </a:rPr>
              <a:t>Arguments and return</a:t>
            </a:r>
            <a:endParaRPr lang="en-US" sz="4000" dirty="0"/>
          </a:p>
        </p:txBody>
      </p:sp>
      <p:sp>
        <p:nvSpPr>
          <p:cNvPr id="4" name="Shape 2"/>
          <p:cNvSpPr/>
          <p:nvPr/>
        </p:nvSpPr>
        <p:spPr>
          <a:xfrm>
            <a:off x="1203808" y="1783080"/>
            <a:ext cx="2834640" cy="1097280"/>
          </a:xfrm>
          <a:prstGeom prst="roundRect">
            <a:avLst>
              <a:gd name="adj" fmla="val 8333"/>
            </a:avLst>
          </a:prstGeom>
          <a:solidFill>
            <a:srgbClr val="FFFFFF"/>
          </a:solidFill>
          <a:ln/>
          <a:effectLst>
            <a:outerShdw blurRad="114300" dist="38100" dir="5400000" algn="bl" rotWithShape="0">
              <a:srgbClr val="1B2A4A">
                <a:alpha val="12000"/>
              </a:srgbClr>
            </a:outerShdw>
          </a:effectLst>
        </p:spPr>
      </p:sp>
      <p:sp>
        <p:nvSpPr>
          <p:cNvPr id="5" name="Text 3"/>
          <p:cNvSpPr/>
          <p:nvPr/>
        </p:nvSpPr>
        <p:spPr>
          <a:xfrm>
            <a:off x="1203808" y="1947672"/>
            <a:ext cx="2834640" cy="457200"/>
          </a:xfrm>
          <a:prstGeom prst="rect">
            <a:avLst/>
          </a:prstGeom>
          <a:noFill/>
          <a:ln/>
        </p:spPr>
        <p:txBody>
          <a:bodyPr wrap="square" rtlCol="0" anchor="ctr"/>
          <a:lstStyle/>
          <a:p>
            <a:pPr marL="0" indent="0" algn="ctr">
              <a:buNone/>
            </a:pPr>
            <a:r>
              <a:rPr lang="en-US" sz="2400" b="1" dirty="0">
                <a:solidFill>
                  <a:srgbClr val="16213E"/>
                </a:solidFill>
                <a:latin typeface="Cambria" pitchFamily="34" charset="0"/>
                <a:ea typeface="Cambria" pitchFamily="34" charset="-122"/>
                <a:cs typeface="Cambria" pitchFamily="34" charset="-120"/>
              </a:rPr>
              <a:t>Input</a:t>
            </a:r>
            <a:endParaRPr lang="en-US" sz="2400" dirty="0"/>
          </a:p>
        </p:txBody>
      </p:sp>
      <p:sp>
        <p:nvSpPr>
          <p:cNvPr id="6" name="Text 4"/>
          <p:cNvSpPr/>
          <p:nvPr/>
        </p:nvSpPr>
        <p:spPr>
          <a:xfrm>
            <a:off x="1203808" y="2404872"/>
            <a:ext cx="2834640" cy="365760"/>
          </a:xfrm>
          <a:prstGeom prst="rect">
            <a:avLst/>
          </a:prstGeom>
          <a:noFill/>
          <a:ln/>
        </p:spPr>
        <p:txBody>
          <a:bodyPr wrap="square" rtlCol="0" anchor="ctr"/>
          <a:lstStyle/>
          <a:p>
            <a:pPr marL="0" indent="0" algn="ctr">
              <a:buNone/>
            </a:pPr>
            <a:r>
              <a:rPr lang="en-US" sz="1600" dirty="0">
                <a:solidFill>
                  <a:srgbClr val="4A5568"/>
                </a:solidFill>
                <a:latin typeface="Calibri" pitchFamily="34" charset="0"/>
                <a:ea typeface="Calibri" pitchFamily="34" charset="-122"/>
                <a:cs typeface="Calibri" pitchFamily="34" charset="-120"/>
              </a:rPr>
              <a:t>arguments</a:t>
            </a:r>
            <a:endParaRPr lang="en-US" sz="1600" dirty="0"/>
          </a:p>
        </p:txBody>
      </p:sp>
      <p:sp>
        <p:nvSpPr>
          <p:cNvPr id="7" name="Text 5"/>
          <p:cNvSpPr/>
          <p:nvPr/>
        </p:nvSpPr>
        <p:spPr>
          <a:xfrm>
            <a:off x="4038448" y="1783080"/>
            <a:ext cx="640080" cy="1097280"/>
          </a:xfrm>
          <a:prstGeom prst="rect">
            <a:avLst/>
          </a:prstGeom>
          <a:noFill/>
          <a:ln/>
        </p:spPr>
        <p:txBody>
          <a:bodyPr wrap="square" rtlCol="0" anchor="ctr"/>
          <a:lstStyle/>
          <a:p>
            <a:pPr marL="0" indent="0" algn="ctr">
              <a:buNone/>
            </a:pPr>
            <a:r>
              <a:rPr lang="en-US" sz="3000" b="1" dirty="0">
                <a:solidFill>
                  <a:srgbClr val="E8A400"/>
                </a:solidFill>
                <a:latin typeface="Calibri" pitchFamily="34" charset="0"/>
                <a:ea typeface="Calibri" pitchFamily="34" charset="-122"/>
                <a:cs typeface="Calibri" pitchFamily="34" charset="-120"/>
              </a:rPr>
              <a:t>→</a:t>
            </a:r>
            <a:endParaRPr lang="en-US" sz="3000" dirty="0"/>
          </a:p>
        </p:txBody>
      </p:sp>
      <p:sp>
        <p:nvSpPr>
          <p:cNvPr id="8" name="Shape 6"/>
          <p:cNvSpPr/>
          <p:nvPr/>
        </p:nvSpPr>
        <p:spPr>
          <a:xfrm>
            <a:off x="4678528" y="1783080"/>
            <a:ext cx="2834640" cy="1097280"/>
          </a:xfrm>
          <a:prstGeom prst="roundRect">
            <a:avLst>
              <a:gd name="adj" fmla="val 8333"/>
            </a:avLst>
          </a:prstGeom>
          <a:solidFill>
            <a:srgbClr val="1B2A4A"/>
          </a:solidFill>
          <a:ln/>
          <a:effectLst>
            <a:outerShdw blurRad="114300" dist="38100" dir="5400000" algn="bl" rotWithShape="0">
              <a:srgbClr val="1B2A4A">
                <a:alpha val="12000"/>
              </a:srgbClr>
            </a:outerShdw>
          </a:effectLst>
        </p:spPr>
      </p:sp>
      <p:sp>
        <p:nvSpPr>
          <p:cNvPr id="9" name="Text 7"/>
          <p:cNvSpPr/>
          <p:nvPr/>
        </p:nvSpPr>
        <p:spPr>
          <a:xfrm>
            <a:off x="4678528" y="1947672"/>
            <a:ext cx="2834640" cy="457200"/>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Statements</a:t>
            </a:r>
            <a:endParaRPr lang="en-US" sz="2400" dirty="0"/>
          </a:p>
        </p:txBody>
      </p:sp>
      <p:sp>
        <p:nvSpPr>
          <p:cNvPr id="10" name="Text 8"/>
          <p:cNvSpPr/>
          <p:nvPr/>
        </p:nvSpPr>
        <p:spPr>
          <a:xfrm>
            <a:off x="4678528" y="2404872"/>
            <a:ext cx="2834640" cy="365760"/>
          </a:xfrm>
          <a:prstGeom prst="rect">
            <a:avLst/>
          </a:prstGeom>
          <a:noFill/>
          <a:ln/>
        </p:spPr>
        <p:txBody>
          <a:bodyPr wrap="square" rtlCol="0" anchor="ctr"/>
          <a:lstStyle/>
          <a:p>
            <a:pPr marL="0" indent="0" algn="ctr">
              <a:buNone/>
            </a:pPr>
            <a:r>
              <a:rPr lang="en-US" sz="1600" dirty="0">
                <a:solidFill>
                  <a:srgbClr val="B9C6E3"/>
                </a:solidFill>
                <a:latin typeface="Calibri" pitchFamily="34" charset="0"/>
                <a:ea typeface="Calibri" pitchFamily="34" charset="-122"/>
                <a:cs typeface="Calibri" pitchFamily="34" charset="-120"/>
              </a:rPr>
              <a:t>the function body</a:t>
            </a:r>
            <a:endParaRPr lang="en-US" sz="1600" dirty="0"/>
          </a:p>
        </p:txBody>
      </p:sp>
      <p:sp>
        <p:nvSpPr>
          <p:cNvPr id="11" name="Text 9"/>
          <p:cNvSpPr/>
          <p:nvPr/>
        </p:nvSpPr>
        <p:spPr>
          <a:xfrm>
            <a:off x="7513168" y="1783080"/>
            <a:ext cx="640080" cy="1097280"/>
          </a:xfrm>
          <a:prstGeom prst="rect">
            <a:avLst/>
          </a:prstGeom>
          <a:noFill/>
          <a:ln/>
        </p:spPr>
        <p:txBody>
          <a:bodyPr wrap="square" rtlCol="0" anchor="ctr"/>
          <a:lstStyle/>
          <a:p>
            <a:pPr marL="0" indent="0" algn="ctr">
              <a:buNone/>
            </a:pPr>
            <a:r>
              <a:rPr lang="en-US" sz="3000" b="1" dirty="0">
                <a:solidFill>
                  <a:srgbClr val="E8A400"/>
                </a:solidFill>
                <a:latin typeface="Calibri" pitchFamily="34" charset="0"/>
                <a:ea typeface="Calibri" pitchFamily="34" charset="-122"/>
                <a:cs typeface="Calibri" pitchFamily="34" charset="-120"/>
              </a:rPr>
              <a:t>→</a:t>
            </a:r>
            <a:endParaRPr lang="en-US" sz="3000" dirty="0"/>
          </a:p>
        </p:txBody>
      </p:sp>
      <p:sp>
        <p:nvSpPr>
          <p:cNvPr id="12" name="Shape 10"/>
          <p:cNvSpPr/>
          <p:nvPr/>
        </p:nvSpPr>
        <p:spPr>
          <a:xfrm>
            <a:off x="8153248" y="1783080"/>
            <a:ext cx="2834640" cy="1097280"/>
          </a:xfrm>
          <a:prstGeom prst="roundRect">
            <a:avLst>
              <a:gd name="adj" fmla="val 8333"/>
            </a:avLst>
          </a:prstGeom>
          <a:solidFill>
            <a:srgbClr val="FFFFFF"/>
          </a:solidFill>
          <a:ln/>
          <a:effectLst>
            <a:outerShdw blurRad="114300" dist="38100" dir="5400000" algn="bl" rotWithShape="0">
              <a:srgbClr val="1B2A4A">
                <a:alpha val="12000"/>
              </a:srgbClr>
            </a:outerShdw>
          </a:effectLst>
        </p:spPr>
      </p:sp>
      <p:sp>
        <p:nvSpPr>
          <p:cNvPr id="13" name="Text 11"/>
          <p:cNvSpPr/>
          <p:nvPr/>
        </p:nvSpPr>
        <p:spPr>
          <a:xfrm>
            <a:off x="8153248" y="1947672"/>
            <a:ext cx="2834640" cy="457200"/>
          </a:xfrm>
          <a:prstGeom prst="rect">
            <a:avLst/>
          </a:prstGeom>
          <a:noFill/>
          <a:ln/>
        </p:spPr>
        <p:txBody>
          <a:bodyPr wrap="square" rtlCol="0" anchor="ctr"/>
          <a:lstStyle/>
          <a:p>
            <a:pPr marL="0" indent="0" algn="ctr">
              <a:buNone/>
            </a:pPr>
            <a:r>
              <a:rPr lang="en-US" sz="2400" b="1" dirty="0">
                <a:solidFill>
                  <a:srgbClr val="16213E"/>
                </a:solidFill>
                <a:latin typeface="Cambria" pitchFamily="34" charset="0"/>
                <a:ea typeface="Cambria" pitchFamily="34" charset="-122"/>
                <a:cs typeface="Cambria" pitchFamily="34" charset="-120"/>
              </a:rPr>
              <a:t>Output</a:t>
            </a:r>
            <a:endParaRPr lang="en-US" sz="2400" dirty="0"/>
          </a:p>
        </p:txBody>
      </p:sp>
      <p:sp>
        <p:nvSpPr>
          <p:cNvPr id="14" name="Text 12"/>
          <p:cNvSpPr/>
          <p:nvPr/>
        </p:nvSpPr>
        <p:spPr>
          <a:xfrm>
            <a:off x="8153248" y="2404872"/>
            <a:ext cx="2834640" cy="365760"/>
          </a:xfrm>
          <a:prstGeom prst="rect">
            <a:avLst/>
          </a:prstGeom>
          <a:noFill/>
          <a:ln/>
        </p:spPr>
        <p:txBody>
          <a:bodyPr wrap="square" rtlCol="0" anchor="ctr"/>
          <a:lstStyle/>
          <a:p>
            <a:pPr marL="0" indent="0" algn="ctr">
              <a:buNone/>
            </a:pPr>
            <a:r>
              <a:rPr lang="en-US" sz="1600" dirty="0">
                <a:solidFill>
                  <a:srgbClr val="4A5568"/>
                </a:solidFill>
                <a:latin typeface="Calibri" pitchFamily="34" charset="0"/>
                <a:ea typeface="Calibri" pitchFamily="34" charset="-122"/>
                <a:cs typeface="Calibri" pitchFamily="34" charset="-120"/>
              </a:rPr>
              <a:t>return value</a:t>
            </a:r>
            <a:endParaRPr lang="en-US" sz="1600" dirty="0"/>
          </a:p>
        </p:txBody>
      </p:sp>
      <p:sp>
        <p:nvSpPr>
          <p:cNvPr id="15" name="Shape 13"/>
          <p:cNvSpPr/>
          <p:nvPr/>
        </p:nvSpPr>
        <p:spPr>
          <a:xfrm>
            <a:off x="640080" y="3154680"/>
            <a:ext cx="5303520" cy="3108960"/>
          </a:xfrm>
          <a:prstGeom prst="roundRect">
            <a:avLst>
              <a:gd name="adj" fmla="val 2941"/>
            </a:avLst>
          </a:prstGeom>
          <a:solidFill>
            <a:srgbClr val="FFFFFF"/>
          </a:solidFill>
          <a:ln/>
          <a:effectLst>
            <a:outerShdw blurRad="114300" dist="38100" dir="5400000" algn="bl" rotWithShape="0">
              <a:srgbClr val="1B2A4A">
                <a:alpha val="12000"/>
              </a:srgbClr>
            </a:outerShdw>
          </a:effectLst>
        </p:spPr>
      </p:sp>
      <p:sp>
        <p:nvSpPr>
          <p:cNvPr id="16" name="Text 14"/>
          <p:cNvSpPr/>
          <p:nvPr/>
        </p:nvSpPr>
        <p:spPr>
          <a:xfrm>
            <a:off x="914400" y="3291840"/>
            <a:ext cx="4754880" cy="502920"/>
          </a:xfrm>
          <a:prstGeom prst="rect">
            <a:avLst/>
          </a:prstGeom>
          <a:noFill/>
          <a:ln/>
        </p:spPr>
        <p:txBody>
          <a:bodyPr wrap="square" rtlCol="0" anchor="ctr"/>
          <a:lstStyle/>
          <a:p>
            <a:pPr marL="0" indent="0">
              <a:buNone/>
            </a:pPr>
            <a:r>
              <a:rPr lang="en-US" sz="2000" b="1" dirty="0">
                <a:solidFill>
                  <a:srgbClr val="16213E"/>
                </a:solidFill>
                <a:latin typeface="Cambria" pitchFamily="34" charset="0"/>
                <a:ea typeface="Cambria" pitchFamily="34" charset="-122"/>
                <a:cs typeface="Cambria" pitchFamily="34" charset="-120"/>
              </a:rPr>
              <a:t>Do it many times, with different values</a:t>
            </a:r>
            <a:endParaRPr lang="en-US" sz="2000" dirty="0"/>
          </a:p>
        </p:txBody>
      </p:sp>
      <p:sp>
        <p:nvSpPr>
          <p:cNvPr id="17" name="Shape 15"/>
          <p:cNvSpPr/>
          <p:nvPr/>
        </p:nvSpPr>
        <p:spPr>
          <a:xfrm>
            <a:off x="914400" y="3886200"/>
            <a:ext cx="4754880" cy="2148840"/>
          </a:xfrm>
          <a:prstGeom prst="roundRect">
            <a:avLst>
              <a:gd name="adj" fmla="val 4255"/>
            </a:avLst>
          </a:prstGeom>
          <a:solidFill>
            <a:srgbClr val="16213E"/>
          </a:solidFill>
          <a:ln/>
          <a:effectLst>
            <a:outerShdw blurRad="114300" dist="38100" dir="5400000" algn="bl" rotWithShape="0">
              <a:srgbClr val="1B2A4A">
                <a:alpha val="18000"/>
              </a:srgbClr>
            </a:outerShdw>
          </a:effectLst>
        </p:spPr>
      </p:sp>
      <p:sp>
        <p:nvSpPr>
          <p:cNvPr id="18" name="Text 16"/>
          <p:cNvSpPr/>
          <p:nvPr/>
        </p:nvSpPr>
        <p:spPr>
          <a:xfrm>
            <a:off x="1143000" y="4114800"/>
            <a:ext cx="4297680" cy="338328"/>
          </a:xfrm>
          <a:prstGeom prst="rect">
            <a:avLst/>
          </a:prstGeom>
          <a:noFill/>
          <a:ln/>
        </p:spPr>
        <p:txBody>
          <a:bodyPr wrap="square" lIns="0" tIns="0" rIns="0" bIns="0" rtlCol="0" anchor="ctr"/>
          <a:lstStyle/>
          <a:p>
            <a:pPr marL="0" indent="0">
              <a:buNone/>
            </a:pPr>
            <a:r>
              <a:rPr lang="en-US" sz="1800" dirty="0">
                <a:solidFill>
                  <a:srgbClr val="E6EDF3"/>
                </a:solidFill>
                <a:latin typeface="Courier New" pitchFamily="34" charset="0"/>
                <a:ea typeface="Courier New" pitchFamily="34" charset="-122"/>
                <a:cs typeface="Courier New" pitchFamily="34" charset="-120"/>
              </a:rPr>
              <a:t>def area(w, h):</a:t>
            </a:r>
            <a:endParaRPr lang="en-US" sz="1800" dirty="0"/>
          </a:p>
        </p:txBody>
      </p:sp>
      <p:sp>
        <p:nvSpPr>
          <p:cNvPr id="19" name="Text 17"/>
          <p:cNvSpPr/>
          <p:nvPr/>
        </p:nvSpPr>
        <p:spPr>
          <a:xfrm>
            <a:off x="1143000" y="4453128"/>
            <a:ext cx="4297680" cy="338328"/>
          </a:xfrm>
          <a:prstGeom prst="rect">
            <a:avLst/>
          </a:prstGeom>
          <a:noFill/>
          <a:ln/>
        </p:spPr>
        <p:txBody>
          <a:bodyPr wrap="square" lIns="0" tIns="0" rIns="0" bIns="0" rtlCol="0" anchor="ctr"/>
          <a:lstStyle/>
          <a:p>
            <a:pPr marL="0" indent="0">
              <a:buNone/>
            </a:pPr>
            <a:r>
              <a:rPr lang="en-US" sz="1800" dirty="0">
                <a:solidFill>
                  <a:srgbClr val="E6EDF3"/>
                </a:solidFill>
                <a:latin typeface="Courier New" pitchFamily="34" charset="0"/>
                <a:ea typeface="Courier New" pitchFamily="34" charset="-122"/>
                <a:cs typeface="Courier New" pitchFamily="34" charset="-120"/>
              </a:rPr>
              <a:t>    return w * h</a:t>
            </a:r>
            <a:endParaRPr lang="en-US" sz="1800" dirty="0"/>
          </a:p>
        </p:txBody>
      </p:sp>
      <p:sp>
        <p:nvSpPr>
          <p:cNvPr id="20" name="Text 18"/>
          <p:cNvSpPr/>
          <p:nvPr/>
        </p:nvSpPr>
        <p:spPr>
          <a:xfrm>
            <a:off x="1143000" y="5129784"/>
            <a:ext cx="4297680" cy="338328"/>
          </a:xfrm>
          <a:prstGeom prst="rect">
            <a:avLst/>
          </a:prstGeom>
          <a:noFill/>
          <a:ln/>
        </p:spPr>
        <p:txBody>
          <a:bodyPr wrap="square" lIns="0" tIns="0" rIns="0" bIns="0" rtlCol="0" anchor="ctr"/>
          <a:lstStyle/>
          <a:p>
            <a:pPr marL="0" indent="0">
              <a:buNone/>
            </a:pPr>
            <a:r>
              <a:rPr lang="en-US" sz="1800" dirty="0">
                <a:solidFill>
                  <a:srgbClr val="E6EDF3"/>
                </a:solidFill>
                <a:latin typeface="Courier New" pitchFamily="34" charset="0"/>
                <a:ea typeface="Courier New" pitchFamily="34" charset="-122"/>
                <a:cs typeface="Courier New" pitchFamily="34" charset="-120"/>
              </a:rPr>
              <a:t>area(2, 3)</a:t>
            </a:r>
            <a:r>
              <a:rPr lang="en-US" sz="1800" dirty="0">
                <a:solidFill>
                  <a:srgbClr val="F2B705"/>
                </a:solidFill>
                <a:latin typeface="Courier New" pitchFamily="34" charset="0"/>
                <a:ea typeface="Courier New" pitchFamily="34" charset="-122"/>
                <a:cs typeface="Courier New" pitchFamily="34" charset="-120"/>
              </a:rPr>
              <a:t>   # 6</a:t>
            </a:r>
            <a:endParaRPr lang="en-US" sz="1800" dirty="0"/>
          </a:p>
        </p:txBody>
      </p:sp>
      <p:sp>
        <p:nvSpPr>
          <p:cNvPr id="21" name="Text 19"/>
          <p:cNvSpPr/>
          <p:nvPr/>
        </p:nvSpPr>
        <p:spPr>
          <a:xfrm>
            <a:off x="1143000" y="5468112"/>
            <a:ext cx="4297680" cy="338328"/>
          </a:xfrm>
          <a:prstGeom prst="rect">
            <a:avLst/>
          </a:prstGeom>
          <a:noFill/>
          <a:ln/>
        </p:spPr>
        <p:txBody>
          <a:bodyPr wrap="square" lIns="0" tIns="0" rIns="0" bIns="0" rtlCol="0" anchor="ctr"/>
          <a:lstStyle/>
          <a:p>
            <a:pPr marL="0" indent="0">
              <a:buNone/>
            </a:pPr>
            <a:r>
              <a:rPr lang="en-US" sz="1800" dirty="0">
                <a:solidFill>
                  <a:srgbClr val="E6EDF3"/>
                </a:solidFill>
                <a:latin typeface="Courier New" pitchFamily="34" charset="0"/>
                <a:ea typeface="Courier New" pitchFamily="34" charset="-122"/>
                <a:cs typeface="Courier New" pitchFamily="34" charset="-120"/>
              </a:rPr>
              <a:t>area(5, 4)</a:t>
            </a:r>
            <a:r>
              <a:rPr lang="en-US" sz="1800" dirty="0">
                <a:solidFill>
                  <a:srgbClr val="F2B705"/>
                </a:solidFill>
                <a:latin typeface="Courier New" pitchFamily="34" charset="0"/>
                <a:ea typeface="Courier New" pitchFamily="34" charset="-122"/>
                <a:cs typeface="Courier New" pitchFamily="34" charset="-120"/>
              </a:rPr>
              <a:t>   # 20</a:t>
            </a:r>
            <a:endParaRPr lang="en-US" sz="1800" dirty="0"/>
          </a:p>
        </p:txBody>
      </p:sp>
      <p:sp>
        <p:nvSpPr>
          <p:cNvPr id="22" name="Shape 20"/>
          <p:cNvSpPr/>
          <p:nvPr/>
        </p:nvSpPr>
        <p:spPr>
          <a:xfrm>
            <a:off x="6217920" y="3154680"/>
            <a:ext cx="5303520" cy="3108960"/>
          </a:xfrm>
          <a:prstGeom prst="roundRect">
            <a:avLst>
              <a:gd name="adj" fmla="val 2941"/>
            </a:avLst>
          </a:prstGeom>
          <a:solidFill>
            <a:srgbClr val="FFFFFF"/>
          </a:solidFill>
          <a:ln/>
          <a:effectLst>
            <a:outerShdw blurRad="114300" dist="38100" dir="5400000" algn="bl" rotWithShape="0">
              <a:srgbClr val="1B2A4A">
                <a:alpha val="12000"/>
              </a:srgbClr>
            </a:outerShdw>
          </a:effectLst>
        </p:spPr>
      </p:sp>
      <p:sp>
        <p:nvSpPr>
          <p:cNvPr id="23" name="Text 21"/>
          <p:cNvSpPr/>
          <p:nvPr/>
        </p:nvSpPr>
        <p:spPr>
          <a:xfrm>
            <a:off x="6492240" y="3291840"/>
            <a:ext cx="4754880" cy="502920"/>
          </a:xfrm>
          <a:prstGeom prst="rect">
            <a:avLst/>
          </a:prstGeom>
          <a:noFill/>
          <a:ln/>
        </p:spPr>
        <p:txBody>
          <a:bodyPr wrap="square" rtlCol="0" anchor="ctr"/>
          <a:lstStyle/>
          <a:p>
            <a:pPr marL="0" indent="0">
              <a:buNone/>
            </a:pPr>
            <a:r>
              <a:rPr lang="en-US" sz="2000" b="1" dirty="0">
                <a:solidFill>
                  <a:srgbClr val="16213E"/>
                </a:solidFill>
                <a:latin typeface="Cambria" pitchFamily="34" charset="0"/>
                <a:ea typeface="Cambria" pitchFamily="34" charset="-122"/>
                <a:cs typeface="Cambria" pitchFamily="34" charset="-120"/>
              </a:rPr>
              <a:t>A return can be the input of a function</a:t>
            </a:r>
            <a:endParaRPr lang="en-US" sz="2000" dirty="0"/>
          </a:p>
        </p:txBody>
      </p:sp>
      <p:sp>
        <p:nvSpPr>
          <p:cNvPr id="24" name="Shape 22"/>
          <p:cNvSpPr/>
          <p:nvPr/>
        </p:nvSpPr>
        <p:spPr>
          <a:xfrm>
            <a:off x="6492240" y="3886200"/>
            <a:ext cx="4754880" cy="2148840"/>
          </a:xfrm>
          <a:prstGeom prst="roundRect">
            <a:avLst>
              <a:gd name="adj" fmla="val 4255"/>
            </a:avLst>
          </a:prstGeom>
          <a:solidFill>
            <a:srgbClr val="16213E"/>
          </a:solidFill>
          <a:ln/>
          <a:effectLst>
            <a:outerShdw blurRad="114300" dist="38100" dir="5400000" algn="bl" rotWithShape="0">
              <a:srgbClr val="1B2A4A">
                <a:alpha val="18000"/>
              </a:srgbClr>
            </a:outerShdw>
          </a:effectLst>
        </p:spPr>
      </p:sp>
      <p:sp>
        <p:nvSpPr>
          <p:cNvPr id="25" name="Text 23"/>
          <p:cNvSpPr/>
          <p:nvPr/>
        </p:nvSpPr>
        <p:spPr>
          <a:xfrm>
            <a:off x="6720840" y="4114800"/>
            <a:ext cx="4297680" cy="338328"/>
          </a:xfrm>
          <a:prstGeom prst="rect">
            <a:avLst/>
          </a:prstGeom>
          <a:noFill/>
          <a:ln/>
        </p:spPr>
        <p:txBody>
          <a:bodyPr wrap="square" lIns="0" tIns="0" rIns="0" bIns="0" rtlCol="0" anchor="ctr"/>
          <a:lstStyle/>
          <a:p>
            <a:pPr marL="0" indent="0">
              <a:buNone/>
            </a:pPr>
            <a:r>
              <a:rPr lang="en-US" sz="1800" dirty="0">
                <a:solidFill>
                  <a:srgbClr val="E6EDF3"/>
                </a:solidFill>
                <a:latin typeface="Courier New" pitchFamily="34" charset="0"/>
                <a:ea typeface="Courier New" pitchFamily="34" charset="-122"/>
                <a:cs typeface="Courier New" pitchFamily="34" charset="-120"/>
              </a:rPr>
              <a:t>x = area(1, 2)</a:t>
            </a:r>
            <a:r>
              <a:rPr lang="en-US" sz="1800" dirty="0">
                <a:solidFill>
                  <a:srgbClr val="F2B705"/>
                </a:solidFill>
                <a:latin typeface="Courier New" pitchFamily="34" charset="0"/>
                <a:ea typeface="Courier New" pitchFamily="34" charset="-122"/>
                <a:cs typeface="Courier New" pitchFamily="34" charset="-120"/>
              </a:rPr>
              <a:t>      # 2</a:t>
            </a:r>
            <a:endParaRPr lang="en-US" sz="1800" dirty="0"/>
          </a:p>
        </p:txBody>
      </p:sp>
      <p:sp>
        <p:nvSpPr>
          <p:cNvPr id="26" name="Text 24"/>
          <p:cNvSpPr/>
          <p:nvPr/>
        </p:nvSpPr>
        <p:spPr>
          <a:xfrm>
            <a:off x="6720840" y="4453128"/>
            <a:ext cx="4297680" cy="338328"/>
          </a:xfrm>
          <a:prstGeom prst="rect">
            <a:avLst/>
          </a:prstGeom>
          <a:noFill/>
          <a:ln/>
        </p:spPr>
        <p:txBody>
          <a:bodyPr wrap="square" lIns="0" tIns="0" rIns="0" bIns="0" rtlCol="0" anchor="ctr"/>
          <a:lstStyle/>
          <a:p>
            <a:pPr marL="0" indent="0">
              <a:buNone/>
            </a:pPr>
            <a:r>
              <a:rPr lang="en-US" sz="1800" dirty="0">
                <a:solidFill>
                  <a:srgbClr val="E6EDF3"/>
                </a:solidFill>
                <a:latin typeface="Courier New" pitchFamily="34" charset="0"/>
                <a:ea typeface="Courier New" pitchFamily="34" charset="-122"/>
                <a:cs typeface="Courier New" pitchFamily="34" charset="-120"/>
              </a:rPr>
              <a:t>area(x, 3)</a:t>
            </a:r>
            <a:r>
              <a:rPr lang="en-US" sz="1800" dirty="0">
                <a:solidFill>
                  <a:srgbClr val="F2B705"/>
                </a:solidFill>
                <a:latin typeface="Courier New" pitchFamily="34" charset="0"/>
                <a:ea typeface="Courier New" pitchFamily="34" charset="-122"/>
                <a:cs typeface="Courier New" pitchFamily="34" charset="-120"/>
              </a:rPr>
              <a:t>          # 6</a:t>
            </a:r>
            <a:endParaRPr lang="en-US" sz="1800" dirty="0"/>
          </a:p>
        </p:txBody>
      </p:sp>
      <p:sp>
        <p:nvSpPr>
          <p:cNvPr id="27" name="Text 25"/>
          <p:cNvSpPr/>
          <p:nvPr/>
        </p:nvSpPr>
        <p:spPr>
          <a:xfrm>
            <a:off x="6720840" y="5129784"/>
            <a:ext cx="4297680" cy="338328"/>
          </a:xfrm>
          <a:prstGeom prst="rect">
            <a:avLst/>
          </a:prstGeom>
          <a:noFill/>
          <a:ln/>
        </p:spPr>
        <p:txBody>
          <a:bodyPr wrap="square" lIns="0" tIns="0" rIns="0" bIns="0" rtlCol="0" anchor="ctr"/>
          <a:lstStyle/>
          <a:p>
            <a:pPr marL="0" indent="0">
              <a:buNone/>
            </a:pPr>
            <a:r>
              <a:rPr lang="en-US" sz="1800" dirty="0">
                <a:solidFill>
                  <a:srgbClr val="E6EDF3"/>
                </a:solidFill>
                <a:latin typeface="Courier New" pitchFamily="34" charset="0"/>
                <a:ea typeface="Courier New" pitchFamily="34" charset="-122"/>
                <a:cs typeface="Courier New" pitchFamily="34" charset="-120"/>
              </a:rPr>
              <a:t># or in one go:</a:t>
            </a:r>
            <a:endParaRPr lang="en-US" sz="1800" dirty="0"/>
          </a:p>
        </p:txBody>
      </p:sp>
      <p:sp>
        <p:nvSpPr>
          <p:cNvPr id="28" name="Text 26"/>
          <p:cNvSpPr/>
          <p:nvPr/>
        </p:nvSpPr>
        <p:spPr>
          <a:xfrm>
            <a:off x="6720840" y="5468112"/>
            <a:ext cx="4297680" cy="338328"/>
          </a:xfrm>
          <a:prstGeom prst="rect">
            <a:avLst/>
          </a:prstGeom>
          <a:noFill/>
          <a:ln/>
        </p:spPr>
        <p:txBody>
          <a:bodyPr wrap="square" lIns="0" tIns="0" rIns="0" bIns="0" rtlCol="0" anchor="ctr"/>
          <a:lstStyle/>
          <a:p>
            <a:pPr marL="0" indent="0">
              <a:buNone/>
            </a:pPr>
            <a:r>
              <a:rPr lang="en-US" sz="1800" dirty="0">
                <a:solidFill>
                  <a:srgbClr val="E6EDF3"/>
                </a:solidFill>
                <a:latin typeface="Courier New" pitchFamily="34" charset="0"/>
                <a:ea typeface="Courier New" pitchFamily="34" charset="-122"/>
                <a:cs typeface="Courier New" pitchFamily="34" charset="-120"/>
              </a:rPr>
              <a:t>area(area(1, 2), 3)</a:t>
            </a:r>
            <a:r>
              <a:rPr lang="en-US" sz="1800" dirty="0">
                <a:solidFill>
                  <a:srgbClr val="F2B705"/>
                </a:solidFill>
                <a:latin typeface="Courier New" pitchFamily="34" charset="0"/>
                <a:ea typeface="Courier New" pitchFamily="34" charset="-122"/>
                <a:cs typeface="Courier New" pitchFamily="34" charset="-120"/>
              </a:rPr>
              <a:t> # 6</a:t>
            </a:r>
            <a:endParaRPr lang="en-US" sz="1800" dirty="0"/>
          </a:p>
        </p:txBody>
      </p:sp>
      <p:sp>
        <p:nvSpPr>
          <p:cNvPr id="29" name="Text 27"/>
          <p:cNvSpPr/>
          <p:nvPr/>
        </p:nvSpPr>
        <p:spPr>
          <a:xfrm>
            <a:off x="640080" y="6510528"/>
            <a:ext cx="4572000" cy="274320"/>
          </a:xfrm>
          <a:prstGeom prst="rect">
            <a:avLst/>
          </a:prstGeom>
          <a:noFill/>
          <a:ln/>
        </p:spPr>
        <p:txBody>
          <a:bodyPr wrap="square" rtlCol="0" anchor="ctr"/>
          <a:lstStyle/>
          <a:p>
            <a:pPr marL="0" indent="0">
              <a:buNone/>
            </a:pPr>
            <a:r>
              <a:rPr lang="en-US" sz="1200" dirty="0">
                <a:solidFill>
                  <a:srgbClr val="4A5568"/>
                </a:solidFill>
                <a:latin typeface="Calibri" pitchFamily="34" charset="0"/>
                <a:ea typeface="Calibri" pitchFamily="34" charset="-122"/>
                <a:cs typeface="Calibri" pitchFamily="34" charset="-120"/>
              </a:rPr>
              <a:t>INFO1 · Mission 3 (S4)</a:t>
            </a:r>
            <a:endParaRPr lang="en-US" sz="1200" dirty="0"/>
          </a:p>
        </p:txBody>
      </p:sp>
      <p:sp>
        <p:nvSpPr>
          <p:cNvPr id="30" name="Text 28"/>
          <p:cNvSpPr/>
          <p:nvPr/>
        </p:nvSpPr>
        <p:spPr>
          <a:xfrm>
            <a:off x="10180015" y="6510528"/>
            <a:ext cx="1371600" cy="274320"/>
          </a:xfrm>
          <a:prstGeom prst="rect">
            <a:avLst/>
          </a:prstGeom>
          <a:noFill/>
          <a:ln/>
        </p:spPr>
        <p:txBody>
          <a:bodyPr wrap="square" rtlCol="0" anchor="ctr"/>
          <a:lstStyle/>
          <a:p>
            <a:pPr marL="0" indent="0" algn="r">
              <a:buNone/>
            </a:pPr>
            <a:r>
              <a:rPr lang="en-US" sz="1200" dirty="0">
                <a:solidFill>
                  <a:srgbClr val="4A5568"/>
                </a:solidFill>
                <a:latin typeface="Calibri" pitchFamily="34" charset="0"/>
                <a:ea typeface="Calibri" pitchFamily="34" charset="-122"/>
                <a:cs typeface="Calibri" pitchFamily="34" charset="-120"/>
              </a:rPr>
              <a:t>5 / 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rtlCol="0" anchor="ctr"/>
          <a:lstStyle/>
          <a:p>
            <a:pPr marL="0" indent="0">
              <a:buNone/>
            </a:pPr>
            <a:r>
              <a:rPr lang="en-US" sz="1600" b="1" kern="0" spc="100" dirty="0">
                <a:solidFill>
                  <a:srgbClr val="E8A400"/>
                </a:solidFill>
                <a:latin typeface="Calibri" pitchFamily="34" charset="0"/>
                <a:ea typeface="Calibri" pitchFamily="34" charset="-122"/>
                <a:cs typeface="Calibri" pitchFamily="34" charset="-120"/>
              </a:rPr>
              <a:t>WATCH OUT</a:t>
            </a:r>
            <a:endParaRPr lang="en-US" sz="1600" dirty="0"/>
          </a:p>
        </p:txBody>
      </p:sp>
      <p:sp>
        <p:nvSpPr>
          <p:cNvPr id="3" name="Text 1"/>
          <p:cNvSpPr/>
          <p:nvPr/>
        </p:nvSpPr>
        <p:spPr>
          <a:xfrm>
            <a:off x="640080" y="804672"/>
            <a:ext cx="10881360" cy="822960"/>
          </a:xfrm>
          <a:prstGeom prst="rect">
            <a:avLst/>
          </a:prstGeom>
          <a:noFill/>
          <a:ln/>
        </p:spPr>
        <p:txBody>
          <a:bodyPr wrap="square" rtlCol="0" anchor="ctr"/>
          <a:lstStyle/>
          <a:p>
            <a:pPr marL="0" indent="0">
              <a:buNone/>
            </a:pPr>
            <a:r>
              <a:rPr lang="en-US" sz="4000" b="1" dirty="0">
                <a:solidFill>
                  <a:srgbClr val="16213E"/>
                </a:solidFill>
                <a:latin typeface="Cambria" pitchFamily="34" charset="0"/>
                <a:ea typeface="Cambria" pitchFamily="34" charset="-122"/>
                <a:cs typeface="Cambria" pitchFamily="34" charset="-120"/>
              </a:rPr>
              <a:t>Common beginner mistakes</a:t>
            </a:r>
            <a:endParaRPr lang="en-US" sz="4000" dirty="0"/>
          </a:p>
        </p:txBody>
      </p:sp>
      <p:sp>
        <p:nvSpPr>
          <p:cNvPr id="4" name="Shape 2"/>
          <p:cNvSpPr/>
          <p:nvPr/>
        </p:nvSpPr>
        <p:spPr>
          <a:xfrm>
            <a:off x="640080" y="1645920"/>
            <a:ext cx="3502152" cy="2286000"/>
          </a:xfrm>
          <a:prstGeom prst="roundRect">
            <a:avLst>
              <a:gd name="adj" fmla="val 4000"/>
            </a:avLst>
          </a:prstGeom>
          <a:solidFill>
            <a:srgbClr val="FFFFFF"/>
          </a:solidFill>
          <a:ln/>
          <a:effectLst>
            <a:outerShdw blurRad="114300" dist="38100" dir="5400000" algn="bl" rotWithShape="0">
              <a:srgbClr val="1B2A4A">
                <a:alpha val="12000"/>
              </a:srgbClr>
            </a:outerShdw>
          </a:effectLst>
        </p:spPr>
      </p:sp>
      <p:sp>
        <p:nvSpPr>
          <p:cNvPr id="5" name="Text 3"/>
          <p:cNvSpPr/>
          <p:nvPr/>
        </p:nvSpPr>
        <p:spPr>
          <a:xfrm>
            <a:off x="868680" y="1737360"/>
            <a:ext cx="3044952" cy="411480"/>
          </a:xfrm>
          <a:prstGeom prst="rect">
            <a:avLst/>
          </a:prstGeom>
          <a:noFill/>
          <a:ln/>
        </p:spPr>
        <p:txBody>
          <a:bodyPr wrap="square" rtlCol="0" anchor="ctr"/>
          <a:lstStyle/>
          <a:p>
            <a:pPr marL="0" indent="0">
              <a:buNone/>
            </a:pPr>
            <a:r>
              <a:rPr lang="en-US" sz="1800" b="1" dirty="0">
                <a:solidFill>
                  <a:srgbClr val="16213E"/>
                </a:solidFill>
                <a:latin typeface="Cambria" pitchFamily="34" charset="0"/>
                <a:ea typeface="Cambria" pitchFamily="34" charset="-122"/>
                <a:cs typeface="Cambria" pitchFamily="34" charset="-120"/>
              </a:rPr>
              <a:t>print instead of return</a:t>
            </a:r>
            <a:endParaRPr lang="en-US" sz="1800" dirty="0"/>
          </a:p>
        </p:txBody>
      </p:sp>
      <p:sp>
        <p:nvSpPr>
          <p:cNvPr id="6" name="Shape 4"/>
          <p:cNvSpPr/>
          <p:nvPr/>
        </p:nvSpPr>
        <p:spPr>
          <a:xfrm>
            <a:off x="868680" y="2176272"/>
            <a:ext cx="3044952" cy="1188720"/>
          </a:xfrm>
          <a:prstGeom prst="roundRect">
            <a:avLst>
              <a:gd name="adj" fmla="val 7692"/>
            </a:avLst>
          </a:prstGeom>
          <a:solidFill>
            <a:srgbClr val="16213E"/>
          </a:solidFill>
          <a:ln/>
          <a:effectLst>
            <a:outerShdw blurRad="114300" dist="38100" dir="5400000" algn="bl" rotWithShape="0">
              <a:srgbClr val="1B2A4A">
                <a:alpha val="18000"/>
              </a:srgbClr>
            </a:outerShdw>
          </a:effectLst>
        </p:spPr>
      </p:sp>
      <p:sp>
        <p:nvSpPr>
          <p:cNvPr id="7" name="Text 5"/>
          <p:cNvSpPr/>
          <p:nvPr/>
        </p:nvSpPr>
        <p:spPr>
          <a:xfrm>
            <a:off x="978408" y="2286000"/>
            <a:ext cx="2825496" cy="242316"/>
          </a:xfrm>
          <a:prstGeom prst="rect">
            <a:avLst/>
          </a:prstGeom>
          <a:noFill/>
          <a:ln/>
        </p:spPr>
        <p:txBody>
          <a:bodyPr wrap="square" lIns="0" tIns="0" rIns="0" bIns="0" rtlCol="0" anchor="ctr"/>
          <a:lstStyle/>
          <a:p>
            <a:pPr marL="0" indent="0">
              <a:buNone/>
            </a:pPr>
            <a:r>
              <a:rPr lang="en-US" sz="1400" dirty="0">
                <a:solidFill>
                  <a:srgbClr val="E6EDF3"/>
                </a:solidFill>
                <a:latin typeface="Courier New" pitchFamily="34" charset="0"/>
                <a:ea typeface="Courier New" pitchFamily="34" charset="-122"/>
                <a:cs typeface="Courier New" pitchFamily="34" charset="-120"/>
              </a:rPr>
              <a:t>def add(a, b):</a:t>
            </a:r>
            <a:endParaRPr lang="en-US" sz="1400" dirty="0"/>
          </a:p>
        </p:txBody>
      </p:sp>
      <p:sp>
        <p:nvSpPr>
          <p:cNvPr id="8" name="Text 6"/>
          <p:cNvSpPr/>
          <p:nvPr/>
        </p:nvSpPr>
        <p:spPr>
          <a:xfrm>
            <a:off x="978408" y="2528316"/>
            <a:ext cx="2825496" cy="242316"/>
          </a:xfrm>
          <a:prstGeom prst="rect">
            <a:avLst/>
          </a:prstGeom>
          <a:noFill/>
          <a:ln/>
        </p:spPr>
        <p:txBody>
          <a:bodyPr wrap="square" lIns="0" tIns="0" rIns="0" bIns="0" rtlCol="0" anchor="ctr"/>
          <a:lstStyle/>
          <a:p>
            <a:pPr marL="0" indent="0">
              <a:buNone/>
            </a:pPr>
            <a:r>
              <a:rPr lang="en-US" sz="1400" dirty="0">
                <a:solidFill>
                  <a:srgbClr val="E6EDF3"/>
                </a:solidFill>
                <a:latin typeface="Courier New" pitchFamily="34" charset="0"/>
                <a:ea typeface="Courier New" pitchFamily="34" charset="-122"/>
                <a:cs typeface="Courier New" pitchFamily="34" charset="-120"/>
              </a:rPr>
              <a:t>    print(a + b)</a:t>
            </a:r>
            <a:endParaRPr lang="en-US" sz="1400" dirty="0"/>
          </a:p>
        </p:txBody>
      </p:sp>
      <p:sp>
        <p:nvSpPr>
          <p:cNvPr id="9" name="Text 7"/>
          <p:cNvSpPr/>
          <p:nvPr/>
        </p:nvSpPr>
        <p:spPr>
          <a:xfrm>
            <a:off x="978408" y="2770632"/>
            <a:ext cx="2825496" cy="242316"/>
          </a:xfrm>
          <a:prstGeom prst="rect">
            <a:avLst/>
          </a:prstGeom>
          <a:noFill/>
          <a:ln/>
        </p:spPr>
        <p:txBody>
          <a:bodyPr wrap="square" lIns="0" tIns="0" rIns="0" bIns="0" rtlCol="0" anchor="ctr"/>
          <a:lstStyle/>
          <a:p>
            <a:pPr marL="0" indent="0">
              <a:buNone/>
            </a:pPr>
            <a:r>
              <a:rPr lang="en-US" sz="1400" dirty="0">
                <a:solidFill>
                  <a:srgbClr val="E6EDF3"/>
                </a:solidFill>
                <a:latin typeface="Courier New" pitchFamily="34" charset="0"/>
                <a:ea typeface="Courier New" pitchFamily="34" charset="-122"/>
                <a:cs typeface="Courier New" pitchFamily="34" charset="-120"/>
              </a:rPr>
              <a:t>x = add(1, 2)</a:t>
            </a:r>
            <a:endParaRPr lang="en-US" sz="1400" dirty="0"/>
          </a:p>
        </p:txBody>
      </p:sp>
      <p:sp>
        <p:nvSpPr>
          <p:cNvPr id="10" name="Text 8"/>
          <p:cNvSpPr/>
          <p:nvPr/>
        </p:nvSpPr>
        <p:spPr>
          <a:xfrm>
            <a:off x="978408" y="3012948"/>
            <a:ext cx="2825496" cy="242316"/>
          </a:xfrm>
          <a:prstGeom prst="rect">
            <a:avLst/>
          </a:prstGeom>
          <a:noFill/>
          <a:ln/>
        </p:spPr>
        <p:txBody>
          <a:bodyPr wrap="square" lIns="0" tIns="0" rIns="0" bIns="0" rtlCol="0" anchor="ctr"/>
          <a:lstStyle/>
          <a:p>
            <a:pPr marL="0" indent="0">
              <a:buNone/>
            </a:pPr>
            <a:r>
              <a:rPr lang="en-US" sz="1400" dirty="0">
                <a:solidFill>
                  <a:srgbClr val="F2B705"/>
                </a:solidFill>
                <a:latin typeface="Courier New" pitchFamily="34" charset="0"/>
                <a:ea typeface="Courier New" pitchFamily="34" charset="-122"/>
                <a:cs typeface="Courier New" pitchFamily="34" charset="-120"/>
              </a:rPr>
              <a:t># x is None</a:t>
            </a:r>
            <a:endParaRPr lang="en-US" sz="1400" dirty="0"/>
          </a:p>
        </p:txBody>
      </p:sp>
      <p:sp>
        <p:nvSpPr>
          <p:cNvPr id="11" name="Text 9"/>
          <p:cNvSpPr/>
          <p:nvPr/>
        </p:nvSpPr>
        <p:spPr>
          <a:xfrm>
            <a:off x="868680" y="3401568"/>
            <a:ext cx="3044952" cy="502920"/>
          </a:xfrm>
          <a:prstGeom prst="rect">
            <a:avLst/>
          </a:prstGeom>
          <a:noFill/>
          <a:ln/>
        </p:spPr>
        <p:txBody>
          <a:bodyPr wrap="square" rtlCol="0" anchor="t"/>
          <a:lstStyle/>
          <a:p>
            <a:pPr marL="0" indent="0">
              <a:buNone/>
            </a:pPr>
            <a:r>
              <a:rPr lang="en-US" sz="1500" dirty="0">
                <a:solidFill>
                  <a:srgbClr val="4A5568"/>
                </a:solidFill>
                <a:latin typeface="Calibri" pitchFamily="34" charset="0"/>
                <a:ea typeface="Calibri" pitchFamily="34" charset="-122"/>
                <a:cs typeface="Calibri" pitchFamily="34" charset="-120"/>
              </a:rPr>
              <a:t>If you need the value later, return it.</a:t>
            </a:r>
            <a:endParaRPr lang="en-US" sz="1500" dirty="0"/>
          </a:p>
        </p:txBody>
      </p:sp>
      <p:sp>
        <p:nvSpPr>
          <p:cNvPr id="12" name="Shape 10"/>
          <p:cNvSpPr/>
          <p:nvPr/>
        </p:nvSpPr>
        <p:spPr>
          <a:xfrm>
            <a:off x="4325112" y="1645920"/>
            <a:ext cx="3502152" cy="2286000"/>
          </a:xfrm>
          <a:prstGeom prst="roundRect">
            <a:avLst>
              <a:gd name="adj" fmla="val 4000"/>
            </a:avLst>
          </a:prstGeom>
          <a:solidFill>
            <a:srgbClr val="FFFFFF"/>
          </a:solidFill>
          <a:ln/>
          <a:effectLst>
            <a:outerShdw blurRad="114300" dist="38100" dir="5400000" algn="bl" rotWithShape="0">
              <a:srgbClr val="1B2A4A">
                <a:alpha val="12000"/>
              </a:srgbClr>
            </a:outerShdw>
          </a:effectLst>
        </p:spPr>
      </p:sp>
      <p:sp>
        <p:nvSpPr>
          <p:cNvPr id="13" name="Text 11"/>
          <p:cNvSpPr/>
          <p:nvPr/>
        </p:nvSpPr>
        <p:spPr>
          <a:xfrm>
            <a:off x="4553712" y="1737360"/>
            <a:ext cx="3044952" cy="411480"/>
          </a:xfrm>
          <a:prstGeom prst="rect">
            <a:avLst/>
          </a:prstGeom>
          <a:noFill/>
          <a:ln/>
        </p:spPr>
        <p:txBody>
          <a:bodyPr wrap="square" rtlCol="0" anchor="ctr"/>
          <a:lstStyle/>
          <a:p>
            <a:pPr marL="0" indent="0">
              <a:buNone/>
            </a:pPr>
            <a:r>
              <a:rPr lang="en-US" sz="1800" b="1" dirty="0">
                <a:solidFill>
                  <a:srgbClr val="16213E"/>
                </a:solidFill>
                <a:latin typeface="Cambria" pitchFamily="34" charset="0"/>
                <a:ea typeface="Cambria" pitchFamily="34" charset="-122"/>
                <a:cs typeface="Cambria" pitchFamily="34" charset="-120"/>
              </a:rPr>
              <a:t>Forgetting the ()</a:t>
            </a:r>
            <a:endParaRPr lang="en-US" sz="1800" dirty="0"/>
          </a:p>
        </p:txBody>
      </p:sp>
      <p:sp>
        <p:nvSpPr>
          <p:cNvPr id="14" name="Shape 12"/>
          <p:cNvSpPr/>
          <p:nvPr/>
        </p:nvSpPr>
        <p:spPr>
          <a:xfrm>
            <a:off x="4553712" y="2176272"/>
            <a:ext cx="3044952" cy="1188720"/>
          </a:xfrm>
          <a:prstGeom prst="roundRect">
            <a:avLst>
              <a:gd name="adj" fmla="val 7692"/>
            </a:avLst>
          </a:prstGeom>
          <a:solidFill>
            <a:srgbClr val="16213E"/>
          </a:solidFill>
          <a:ln/>
          <a:effectLst>
            <a:outerShdw blurRad="114300" dist="38100" dir="5400000" algn="bl" rotWithShape="0">
              <a:srgbClr val="1B2A4A">
                <a:alpha val="18000"/>
              </a:srgbClr>
            </a:outerShdw>
          </a:effectLst>
        </p:spPr>
      </p:sp>
      <p:sp>
        <p:nvSpPr>
          <p:cNvPr id="15" name="Text 13"/>
          <p:cNvSpPr/>
          <p:nvPr/>
        </p:nvSpPr>
        <p:spPr>
          <a:xfrm>
            <a:off x="4663440" y="2286000"/>
            <a:ext cx="2825496" cy="242316"/>
          </a:xfrm>
          <a:prstGeom prst="rect">
            <a:avLst/>
          </a:prstGeom>
          <a:noFill/>
          <a:ln/>
        </p:spPr>
        <p:txBody>
          <a:bodyPr wrap="square" lIns="0" tIns="0" rIns="0" bIns="0" rtlCol="0" anchor="ctr"/>
          <a:lstStyle/>
          <a:p>
            <a:pPr marL="0" indent="0">
              <a:buNone/>
            </a:pPr>
            <a:r>
              <a:rPr lang="en-US" sz="1400" dirty="0">
                <a:solidFill>
                  <a:srgbClr val="E6EDF3"/>
                </a:solidFill>
                <a:latin typeface="Courier New" pitchFamily="34" charset="0"/>
                <a:ea typeface="Courier New" pitchFamily="34" charset="-122"/>
                <a:cs typeface="Courier New" pitchFamily="34" charset="-120"/>
              </a:rPr>
              <a:t>lebapteme</a:t>
            </a:r>
            <a:r>
              <a:rPr lang="en-US" sz="1400" dirty="0">
                <a:solidFill>
                  <a:srgbClr val="F2B705"/>
                </a:solidFill>
                <a:latin typeface="Courier New" pitchFamily="34" charset="0"/>
                <a:ea typeface="Courier New" pitchFamily="34" charset="-122"/>
                <a:cs typeface="Courier New" pitchFamily="34" charset="-120"/>
              </a:rPr>
              <a:t>    # no call</a:t>
            </a:r>
            <a:endParaRPr lang="en-US" sz="1400" dirty="0"/>
          </a:p>
        </p:txBody>
      </p:sp>
      <p:sp>
        <p:nvSpPr>
          <p:cNvPr id="16" name="Text 14"/>
          <p:cNvSpPr/>
          <p:nvPr/>
        </p:nvSpPr>
        <p:spPr>
          <a:xfrm>
            <a:off x="4663440" y="2528316"/>
            <a:ext cx="2825496" cy="242316"/>
          </a:xfrm>
          <a:prstGeom prst="rect">
            <a:avLst/>
          </a:prstGeom>
          <a:noFill/>
          <a:ln/>
        </p:spPr>
        <p:txBody>
          <a:bodyPr wrap="square" lIns="0" tIns="0" rIns="0" bIns="0" rtlCol="0" anchor="ctr"/>
          <a:lstStyle/>
          <a:p>
            <a:pPr marL="0" indent="0">
              <a:buNone/>
            </a:pPr>
            <a:r>
              <a:rPr lang="en-US" sz="1400" dirty="0">
                <a:solidFill>
                  <a:srgbClr val="E6EDF3"/>
                </a:solidFill>
                <a:latin typeface="Courier New" pitchFamily="34" charset="0"/>
                <a:ea typeface="Courier New" pitchFamily="34" charset="-122"/>
                <a:cs typeface="Courier New" pitchFamily="34" charset="-120"/>
              </a:rPr>
              <a:t>lebapteme()</a:t>
            </a:r>
            <a:r>
              <a:rPr lang="en-US" sz="1400" dirty="0">
                <a:solidFill>
                  <a:srgbClr val="F2B705"/>
                </a:solidFill>
                <a:latin typeface="Courier New" pitchFamily="34" charset="0"/>
                <a:ea typeface="Courier New" pitchFamily="34" charset="-122"/>
                <a:cs typeface="Courier New" pitchFamily="34" charset="-120"/>
              </a:rPr>
              <a:t>  # runs it</a:t>
            </a:r>
            <a:endParaRPr lang="en-US" sz="1400" dirty="0"/>
          </a:p>
        </p:txBody>
      </p:sp>
      <p:sp>
        <p:nvSpPr>
          <p:cNvPr id="17" name="Text 15"/>
          <p:cNvSpPr/>
          <p:nvPr/>
        </p:nvSpPr>
        <p:spPr>
          <a:xfrm>
            <a:off x="4553712" y="3401568"/>
            <a:ext cx="3044952" cy="502920"/>
          </a:xfrm>
          <a:prstGeom prst="rect">
            <a:avLst/>
          </a:prstGeom>
          <a:noFill/>
          <a:ln/>
        </p:spPr>
        <p:txBody>
          <a:bodyPr wrap="square" rtlCol="0" anchor="t"/>
          <a:lstStyle/>
          <a:p>
            <a:pPr marL="0" indent="0">
              <a:buNone/>
            </a:pPr>
            <a:r>
              <a:rPr lang="en-US" sz="1500" dirty="0">
                <a:solidFill>
                  <a:srgbClr val="4A5568"/>
                </a:solidFill>
                <a:latin typeface="Calibri" pitchFamily="34" charset="0"/>
                <a:ea typeface="Calibri" pitchFamily="34" charset="-122"/>
                <a:cs typeface="Calibri" pitchFamily="34" charset="-120"/>
              </a:rPr>
              <a:t>Without parentheses you only name the function.</a:t>
            </a:r>
            <a:endParaRPr lang="en-US" sz="1500" dirty="0"/>
          </a:p>
        </p:txBody>
      </p:sp>
      <p:sp>
        <p:nvSpPr>
          <p:cNvPr id="18" name="Shape 16"/>
          <p:cNvSpPr/>
          <p:nvPr/>
        </p:nvSpPr>
        <p:spPr>
          <a:xfrm>
            <a:off x="8010144" y="1645920"/>
            <a:ext cx="3502152" cy="2286000"/>
          </a:xfrm>
          <a:prstGeom prst="roundRect">
            <a:avLst>
              <a:gd name="adj" fmla="val 4000"/>
            </a:avLst>
          </a:prstGeom>
          <a:solidFill>
            <a:srgbClr val="FFFFFF"/>
          </a:solidFill>
          <a:ln/>
          <a:effectLst>
            <a:outerShdw blurRad="114300" dist="38100" dir="5400000" algn="bl" rotWithShape="0">
              <a:srgbClr val="1B2A4A">
                <a:alpha val="12000"/>
              </a:srgbClr>
            </a:outerShdw>
          </a:effectLst>
        </p:spPr>
      </p:sp>
      <p:sp>
        <p:nvSpPr>
          <p:cNvPr id="19" name="Text 17"/>
          <p:cNvSpPr/>
          <p:nvPr/>
        </p:nvSpPr>
        <p:spPr>
          <a:xfrm>
            <a:off x="8238744" y="1737360"/>
            <a:ext cx="3044952" cy="411480"/>
          </a:xfrm>
          <a:prstGeom prst="rect">
            <a:avLst/>
          </a:prstGeom>
          <a:noFill/>
          <a:ln/>
        </p:spPr>
        <p:txBody>
          <a:bodyPr wrap="square" rtlCol="0" anchor="ctr"/>
          <a:lstStyle/>
          <a:p>
            <a:pPr marL="0" indent="0">
              <a:buNone/>
            </a:pPr>
            <a:r>
              <a:rPr lang="en-US" sz="1800" b="1" dirty="0">
                <a:solidFill>
                  <a:srgbClr val="16213E"/>
                </a:solidFill>
                <a:latin typeface="Cambria" pitchFamily="34" charset="0"/>
                <a:ea typeface="Cambria" pitchFamily="34" charset="-122"/>
                <a:cs typeface="Cambria" pitchFamily="34" charset="-120"/>
              </a:rPr>
              <a:t>Local variable used outside</a:t>
            </a:r>
            <a:endParaRPr lang="en-US" sz="1800" dirty="0"/>
          </a:p>
        </p:txBody>
      </p:sp>
      <p:sp>
        <p:nvSpPr>
          <p:cNvPr id="20" name="Shape 18"/>
          <p:cNvSpPr/>
          <p:nvPr/>
        </p:nvSpPr>
        <p:spPr>
          <a:xfrm>
            <a:off x="8238744" y="2176272"/>
            <a:ext cx="3044952" cy="1188720"/>
          </a:xfrm>
          <a:prstGeom prst="roundRect">
            <a:avLst>
              <a:gd name="adj" fmla="val 7692"/>
            </a:avLst>
          </a:prstGeom>
          <a:solidFill>
            <a:srgbClr val="16213E"/>
          </a:solidFill>
          <a:ln/>
          <a:effectLst>
            <a:outerShdw blurRad="114300" dist="38100" dir="5400000" algn="bl" rotWithShape="0">
              <a:srgbClr val="1B2A4A">
                <a:alpha val="18000"/>
              </a:srgbClr>
            </a:outerShdw>
          </a:effectLst>
        </p:spPr>
      </p:sp>
      <p:sp>
        <p:nvSpPr>
          <p:cNvPr id="21" name="Text 19"/>
          <p:cNvSpPr/>
          <p:nvPr/>
        </p:nvSpPr>
        <p:spPr>
          <a:xfrm>
            <a:off x="8348472" y="2286000"/>
            <a:ext cx="2825496" cy="242316"/>
          </a:xfrm>
          <a:prstGeom prst="rect">
            <a:avLst/>
          </a:prstGeom>
          <a:noFill/>
          <a:ln/>
        </p:spPr>
        <p:txBody>
          <a:bodyPr wrap="square" lIns="0" tIns="0" rIns="0" bIns="0" rtlCol="0" anchor="ctr"/>
          <a:lstStyle/>
          <a:p>
            <a:pPr marL="0" indent="0">
              <a:buNone/>
            </a:pPr>
            <a:r>
              <a:rPr lang="en-US" sz="1400" dirty="0">
                <a:solidFill>
                  <a:srgbClr val="E6EDF3"/>
                </a:solidFill>
                <a:latin typeface="Courier New" pitchFamily="34" charset="0"/>
                <a:ea typeface="Courier New" pitchFamily="34" charset="-122"/>
                <a:cs typeface="Courier New" pitchFamily="34" charset="-120"/>
              </a:rPr>
              <a:t>def f():</a:t>
            </a:r>
            <a:endParaRPr lang="en-US" sz="1400" dirty="0"/>
          </a:p>
        </p:txBody>
      </p:sp>
      <p:sp>
        <p:nvSpPr>
          <p:cNvPr id="22" name="Text 20"/>
          <p:cNvSpPr/>
          <p:nvPr/>
        </p:nvSpPr>
        <p:spPr>
          <a:xfrm>
            <a:off x="8348472" y="2528316"/>
            <a:ext cx="2825496" cy="242316"/>
          </a:xfrm>
          <a:prstGeom prst="rect">
            <a:avLst/>
          </a:prstGeom>
          <a:noFill/>
          <a:ln/>
        </p:spPr>
        <p:txBody>
          <a:bodyPr wrap="square" lIns="0" tIns="0" rIns="0" bIns="0" rtlCol="0" anchor="ctr"/>
          <a:lstStyle/>
          <a:p>
            <a:pPr marL="0" indent="0">
              <a:buNone/>
            </a:pPr>
            <a:r>
              <a:rPr lang="en-US" sz="1400" dirty="0">
                <a:solidFill>
                  <a:srgbClr val="E6EDF3"/>
                </a:solidFill>
                <a:latin typeface="Courier New" pitchFamily="34" charset="0"/>
                <a:ea typeface="Courier New" pitchFamily="34" charset="-122"/>
                <a:cs typeface="Courier New" pitchFamily="34" charset="-120"/>
              </a:rPr>
              <a:t>    y = 5</a:t>
            </a:r>
            <a:endParaRPr lang="en-US" sz="1400" dirty="0"/>
          </a:p>
        </p:txBody>
      </p:sp>
      <p:sp>
        <p:nvSpPr>
          <p:cNvPr id="23" name="Text 21"/>
          <p:cNvSpPr/>
          <p:nvPr/>
        </p:nvSpPr>
        <p:spPr>
          <a:xfrm>
            <a:off x="8348472" y="2770632"/>
            <a:ext cx="2825496" cy="242316"/>
          </a:xfrm>
          <a:prstGeom prst="rect">
            <a:avLst/>
          </a:prstGeom>
          <a:noFill/>
          <a:ln/>
        </p:spPr>
        <p:txBody>
          <a:bodyPr wrap="square" lIns="0" tIns="0" rIns="0" bIns="0" rtlCol="0" anchor="ctr"/>
          <a:lstStyle/>
          <a:p>
            <a:pPr marL="0" indent="0">
              <a:buNone/>
            </a:pPr>
            <a:r>
              <a:rPr lang="en-US" sz="1400" dirty="0">
                <a:solidFill>
                  <a:srgbClr val="E6EDF3"/>
                </a:solidFill>
                <a:latin typeface="Courier New" pitchFamily="34" charset="0"/>
                <a:ea typeface="Courier New" pitchFamily="34" charset="-122"/>
                <a:cs typeface="Courier New" pitchFamily="34" charset="-120"/>
              </a:rPr>
              <a:t>f()</a:t>
            </a:r>
            <a:endParaRPr lang="en-US" sz="1400" dirty="0"/>
          </a:p>
        </p:txBody>
      </p:sp>
      <p:sp>
        <p:nvSpPr>
          <p:cNvPr id="24" name="Text 22"/>
          <p:cNvSpPr/>
          <p:nvPr/>
        </p:nvSpPr>
        <p:spPr>
          <a:xfrm>
            <a:off x="8348472" y="3012948"/>
            <a:ext cx="2825496" cy="242316"/>
          </a:xfrm>
          <a:prstGeom prst="rect">
            <a:avLst/>
          </a:prstGeom>
          <a:noFill/>
          <a:ln/>
        </p:spPr>
        <p:txBody>
          <a:bodyPr wrap="square" lIns="0" tIns="0" rIns="0" bIns="0" rtlCol="0" anchor="ctr"/>
          <a:lstStyle/>
          <a:p>
            <a:pPr marL="0" indent="0">
              <a:buNone/>
            </a:pPr>
            <a:r>
              <a:rPr lang="en-US" sz="1400" dirty="0">
                <a:solidFill>
                  <a:srgbClr val="E6EDF3"/>
                </a:solidFill>
                <a:latin typeface="Courier New" pitchFamily="34" charset="0"/>
                <a:ea typeface="Courier New" pitchFamily="34" charset="-122"/>
                <a:cs typeface="Courier New" pitchFamily="34" charset="-120"/>
              </a:rPr>
              <a:t>print(y)</a:t>
            </a:r>
            <a:r>
              <a:rPr lang="en-US" sz="1400" dirty="0">
                <a:solidFill>
                  <a:srgbClr val="F2B705"/>
                </a:solidFill>
                <a:latin typeface="Courier New" pitchFamily="34" charset="0"/>
                <a:ea typeface="Courier New" pitchFamily="34" charset="-122"/>
                <a:cs typeface="Courier New" pitchFamily="34" charset="-120"/>
              </a:rPr>
              <a:t>  # NameError</a:t>
            </a:r>
            <a:endParaRPr lang="en-US" sz="1400" dirty="0"/>
          </a:p>
        </p:txBody>
      </p:sp>
      <p:sp>
        <p:nvSpPr>
          <p:cNvPr id="25" name="Text 23"/>
          <p:cNvSpPr/>
          <p:nvPr/>
        </p:nvSpPr>
        <p:spPr>
          <a:xfrm>
            <a:off x="8238744" y="3401568"/>
            <a:ext cx="3044952" cy="502920"/>
          </a:xfrm>
          <a:prstGeom prst="rect">
            <a:avLst/>
          </a:prstGeom>
          <a:noFill/>
          <a:ln/>
        </p:spPr>
        <p:txBody>
          <a:bodyPr wrap="square" rtlCol="0" anchor="t"/>
          <a:lstStyle/>
          <a:p>
            <a:pPr marL="0" indent="0">
              <a:buNone/>
            </a:pPr>
            <a:r>
              <a:rPr lang="en-US" sz="1500" dirty="0">
                <a:solidFill>
                  <a:srgbClr val="4A5568"/>
                </a:solidFill>
                <a:latin typeface="Calibri" pitchFamily="34" charset="0"/>
                <a:ea typeface="Calibri" pitchFamily="34" charset="-122"/>
                <a:cs typeface="Calibri" pitchFamily="34" charset="-120"/>
              </a:rPr>
              <a:t>Return the value instead.</a:t>
            </a:r>
            <a:endParaRPr lang="en-US" sz="1500" dirty="0"/>
          </a:p>
        </p:txBody>
      </p:sp>
      <p:sp>
        <p:nvSpPr>
          <p:cNvPr id="26" name="Shape 24"/>
          <p:cNvSpPr/>
          <p:nvPr/>
        </p:nvSpPr>
        <p:spPr>
          <a:xfrm>
            <a:off x="640080" y="4114800"/>
            <a:ext cx="3502152" cy="2286000"/>
          </a:xfrm>
          <a:prstGeom prst="roundRect">
            <a:avLst>
              <a:gd name="adj" fmla="val 4000"/>
            </a:avLst>
          </a:prstGeom>
          <a:solidFill>
            <a:srgbClr val="FFFFFF"/>
          </a:solidFill>
          <a:ln/>
          <a:effectLst>
            <a:outerShdw blurRad="114300" dist="38100" dir="5400000" algn="bl" rotWithShape="0">
              <a:srgbClr val="1B2A4A">
                <a:alpha val="12000"/>
              </a:srgbClr>
            </a:outerShdw>
          </a:effectLst>
        </p:spPr>
      </p:sp>
      <p:sp>
        <p:nvSpPr>
          <p:cNvPr id="27" name="Text 25"/>
          <p:cNvSpPr/>
          <p:nvPr/>
        </p:nvSpPr>
        <p:spPr>
          <a:xfrm>
            <a:off x="868680" y="4206240"/>
            <a:ext cx="3044952" cy="411480"/>
          </a:xfrm>
          <a:prstGeom prst="rect">
            <a:avLst/>
          </a:prstGeom>
          <a:noFill/>
          <a:ln/>
        </p:spPr>
        <p:txBody>
          <a:bodyPr wrap="square" rtlCol="0" anchor="ctr"/>
          <a:lstStyle/>
          <a:p>
            <a:pPr marL="0" indent="0">
              <a:buNone/>
            </a:pPr>
            <a:r>
              <a:rPr lang="en-US" sz="1800" b="1" dirty="0">
                <a:solidFill>
                  <a:srgbClr val="16213E"/>
                </a:solidFill>
                <a:latin typeface="Cambria" pitchFamily="34" charset="0"/>
                <a:ea typeface="Cambria" pitchFamily="34" charset="-122"/>
                <a:cs typeface="Cambria" pitchFamily="34" charset="-120"/>
              </a:rPr>
              <a:t>Code after return</a:t>
            </a:r>
            <a:endParaRPr lang="en-US" sz="1800" dirty="0"/>
          </a:p>
        </p:txBody>
      </p:sp>
      <p:sp>
        <p:nvSpPr>
          <p:cNvPr id="28" name="Shape 26"/>
          <p:cNvSpPr/>
          <p:nvPr/>
        </p:nvSpPr>
        <p:spPr>
          <a:xfrm>
            <a:off x="868680" y="4645152"/>
            <a:ext cx="3044952" cy="1188720"/>
          </a:xfrm>
          <a:prstGeom prst="roundRect">
            <a:avLst>
              <a:gd name="adj" fmla="val 7692"/>
            </a:avLst>
          </a:prstGeom>
          <a:solidFill>
            <a:srgbClr val="16213E"/>
          </a:solidFill>
          <a:ln/>
          <a:effectLst>
            <a:outerShdw blurRad="114300" dist="38100" dir="5400000" algn="bl" rotWithShape="0">
              <a:srgbClr val="1B2A4A">
                <a:alpha val="18000"/>
              </a:srgbClr>
            </a:outerShdw>
          </a:effectLst>
        </p:spPr>
      </p:sp>
      <p:sp>
        <p:nvSpPr>
          <p:cNvPr id="29" name="Text 27"/>
          <p:cNvSpPr/>
          <p:nvPr/>
        </p:nvSpPr>
        <p:spPr>
          <a:xfrm>
            <a:off x="978408" y="4754880"/>
            <a:ext cx="2825496" cy="242316"/>
          </a:xfrm>
          <a:prstGeom prst="rect">
            <a:avLst/>
          </a:prstGeom>
          <a:noFill/>
          <a:ln/>
        </p:spPr>
        <p:txBody>
          <a:bodyPr wrap="square" lIns="0" tIns="0" rIns="0" bIns="0" rtlCol="0" anchor="ctr"/>
          <a:lstStyle/>
          <a:p>
            <a:pPr marL="0" indent="0">
              <a:buNone/>
            </a:pPr>
            <a:r>
              <a:rPr lang="en-US" sz="1400" dirty="0">
                <a:solidFill>
                  <a:srgbClr val="E6EDF3"/>
                </a:solidFill>
                <a:latin typeface="Courier New" pitchFamily="34" charset="0"/>
                <a:ea typeface="Courier New" pitchFamily="34" charset="-122"/>
                <a:cs typeface="Courier New" pitchFamily="34" charset="-120"/>
              </a:rPr>
              <a:t>def f():</a:t>
            </a:r>
            <a:endParaRPr lang="en-US" sz="1400" dirty="0"/>
          </a:p>
        </p:txBody>
      </p:sp>
      <p:sp>
        <p:nvSpPr>
          <p:cNvPr id="30" name="Text 28"/>
          <p:cNvSpPr/>
          <p:nvPr/>
        </p:nvSpPr>
        <p:spPr>
          <a:xfrm>
            <a:off x="978408" y="4997196"/>
            <a:ext cx="2825496" cy="242316"/>
          </a:xfrm>
          <a:prstGeom prst="rect">
            <a:avLst/>
          </a:prstGeom>
          <a:noFill/>
          <a:ln/>
        </p:spPr>
        <p:txBody>
          <a:bodyPr wrap="square" lIns="0" tIns="0" rIns="0" bIns="0" rtlCol="0" anchor="ctr"/>
          <a:lstStyle/>
          <a:p>
            <a:pPr marL="0" indent="0">
              <a:buNone/>
            </a:pPr>
            <a:r>
              <a:rPr lang="en-US" sz="1400" dirty="0">
                <a:solidFill>
                  <a:srgbClr val="E6EDF3"/>
                </a:solidFill>
                <a:latin typeface="Courier New" pitchFamily="34" charset="0"/>
                <a:ea typeface="Courier New" pitchFamily="34" charset="-122"/>
                <a:cs typeface="Courier New" pitchFamily="34" charset="-120"/>
              </a:rPr>
              <a:t>    return 1</a:t>
            </a:r>
            <a:endParaRPr lang="en-US" sz="1400" dirty="0"/>
          </a:p>
        </p:txBody>
      </p:sp>
      <p:sp>
        <p:nvSpPr>
          <p:cNvPr id="31" name="Text 29"/>
          <p:cNvSpPr/>
          <p:nvPr/>
        </p:nvSpPr>
        <p:spPr>
          <a:xfrm>
            <a:off x="978408" y="5239512"/>
            <a:ext cx="2825496" cy="242316"/>
          </a:xfrm>
          <a:prstGeom prst="rect">
            <a:avLst/>
          </a:prstGeom>
          <a:noFill/>
          <a:ln/>
        </p:spPr>
        <p:txBody>
          <a:bodyPr wrap="square" lIns="0" tIns="0" rIns="0" bIns="0" rtlCol="0" anchor="ctr"/>
          <a:lstStyle/>
          <a:p>
            <a:pPr marL="0" indent="0">
              <a:buNone/>
            </a:pPr>
            <a:r>
              <a:rPr lang="en-US" sz="1400" dirty="0">
                <a:solidFill>
                  <a:srgbClr val="E6EDF3"/>
                </a:solidFill>
                <a:latin typeface="Courier New" pitchFamily="34" charset="0"/>
                <a:ea typeface="Courier New" pitchFamily="34" charset="-122"/>
                <a:cs typeface="Courier New" pitchFamily="34" charset="-120"/>
              </a:rPr>
              <a:t>    print("hi")</a:t>
            </a:r>
            <a:endParaRPr lang="en-US" sz="1400" dirty="0"/>
          </a:p>
        </p:txBody>
      </p:sp>
      <p:sp>
        <p:nvSpPr>
          <p:cNvPr id="32" name="Text 30"/>
          <p:cNvSpPr/>
          <p:nvPr/>
        </p:nvSpPr>
        <p:spPr>
          <a:xfrm>
            <a:off x="978408" y="5481828"/>
            <a:ext cx="2825496" cy="242316"/>
          </a:xfrm>
          <a:prstGeom prst="rect">
            <a:avLst/>
          </a:prstGeom>
          <a:noFill/>
          <a:ln/>
        </p:spPr>
        <p:txBody>
          <a:bodyPr wrap="square" lIns="0" tIns="0" rIns="0" bIns="0" rtlCol="0" anchor="ctr"/>
          <a:lstStyle/>
          <a:p>
            <a:pPr marL="0" indent="0">
              <a:buNone/>
            </a:pPr>
            <a:r>
              <a:rPr lang="en-US" sz="1400" dirty="0">
                <a:solidFill>
                  <a:srgbClr val="F2B705"/>
                </a:solidFill>
                <a:latin typeface="Courier New" pitchFamily="34" charset="0"/>
                <a:ea typeface="Courier New" pitchFamily="34" charset="-122"/>
                <a:cs typeface="Courier New" pitchFamily="34" charset="-120"/>
              </a:rPr>
              <a:t># print never runs</a:t>
            </a:r>
            <a:endParaRPr lang="en-US" sz="1400" dirty="0"/>
          </a:p>
        </p:txBody>
      </p:sp>
      <p:sp>
        <p:nvSpPr>
          <p:cNvPr id="33" name="Text 31"/>
          <p:cNvSpPr/>
          <p:nvPr/>
        </p:nvSpPr>
        <p:spPr>
          <a:xfrm>
            <a:off x="868680" y="5870448"/>
            <a:ext cx="3044952" cy="502920"/>
          </a:xfrm>
          <a:prstGeom prst="rect">
            <a:avLst/>
          </a:prstGeom>
          <a:noFill/>
          <a:ln/>
        </p:spPr>
        <p:txBody>
          <a:bodyPr wrap="square" rtlCol="0" anchor="t"/>
          <a:lstStyle/>
          <a:p>
            <a:pPr marL="0" indent="0">
              <a:buNone/>
            </a:pPr>
            <a:r>
              <a:rPr lang="en-US" sz="1500" dirty="0">
                <a:solidFill>
                  <a:srgbClr val="4A5568"/>
                </a:solidFill>
                <a:latin typeface="Calibri" pitchFamily="34" charset="0"/>
                <a:ea typeface="Calibri" pitchFamily="34" charset="-122"/>
                <a:cs typeface="Calibri" pitchFamily="34" charset="-120"/>
              </a:rPr>
              <a:t>return ends the function immediately.</a:t>
            </a:r>
            <a:endParaRPr lang="en-US" sz="1500" dirty="0"/>
          </a:p>
        </p:txBody>
      </p:sp>
      <p:sp>
        <p:nvSpPr>
          <p:cNvPr id="34" name="Shape 32"/>
          <p:cNvSpPr/>
          <p:nvPr/>
        </p:nvSpPr>
        <p:spPr>
          <a:xfrm>
            <a:off x="4325112" y="4114800"/>
            <a:ext cx="3502152" cy="2286000"/>
          </a:xfrm>
          <a:prstGeom prst="roundRect">
            <a:avLst>
              <a:gd name="adj" fmla="val 4000"/>
            </a:avLst>
          </a:prstGeom>
          <a:solidFill>
            <a:srgbClr val="FFFFFF"/>
          </a:solidFill>
          <a:ln/>
          <a:effectLst>
            <a:outerShdw blurRad="114300" dist="38100" dir="5400000" algn="bl" rotWithShape="0">
              <a:srgbClr val="1B2A4A">
                <a:alpha val="12000"/>
              </a:srgbClr>
            </a:outerShdw>
          </a:effectLst>
        </p:spPr>
      </p:sp>
      <p:sp>
        <p:nvSpPr>
          <p:cNvPr id="35" name="Text 33"/>
          <p:cNvSpPr/>
          <p:nvPr/>
        </p:nvSpPr>
        <p:spPr>
          <a:xfrm>
            <a:off x="4553712" y="4206240"/>
            <a:ext cx="3044952" cy="411480"/>
          </a:xfrm>
          <a:prstGeom prst="rect">
            <a:avLst/>
          </a:prstGeom>
          <a:noFill/>
          <a:ln/>
        </p:spPr>
        <p:txBody>
          <a:bodyPr wrap="square" rtlCol="0" anchor="ctr"/>
          <a:lstStyle/>
          <a:p>
            <a:pPr marL="0" indent="0">
              <a:buNone/>
            </a:pPr>
            <a:r>
              <a:rPr lang="en-US" sz="1800" b="1" dirty="0">
                <a:solidFill>
                  <a:srgbClr val="16213E"/>
                </a:solidFill>
                <a:latin typeface="Cambria" pitchFamily="34" charset="0"/>
                <a:ea typeface="Cambria" pitchFamily="34" charset="-122"/>
                <a:cs typeface="Cambria" pitchFamily="34" charset="-120"/>
              </a:rPr>
              <a:t>Calling before defining</a:t>
            </a:r>
            <a:endParaRPr lang="en-US" sz="1800" dirty="0"/>
          </a:p>
        </p:txBody>
      </p:sp>
      <p:sp>
        <p:nvSpPr>
          <p:cNvPr id="36" name="Shape 34"/>
          <p:cNvSpPr/>
          <p:nvPr/>
        </p:nvSpPr>
        <p:spPr>
          <a:xfrm>
            <a:off x="4553712" y="4645152"/>
            <a:ext cx="3044952" cy="1188720"/>
          </a:xfrm>
          <a:prstGeom prst="roundRect">
            <a:avLst>
              <a:gd name="adj" fmla="val 7692"/>
            </a:avLst>
          </a:prstGeom>
          <a:solidFill>
            <a:srgbClr val="16213E"/>
          </a:solidFill>
          <a:ln/>
          <a:effectLst>
            <a:outerShdw blurRad="114300" dist="38100" dir="5400000" algn="bl" rotWithShape="0">
              <a:srgbClr val="1B2A4A">
                <a:alpha val="18000"/>
              </a:srgbClr>
            </a:outerShdw>
          </a:effectLst>
        </p:spPr>
      </p:sp>
      <p:sp>
        <p:nvSpPr>
          <p:cNvPr id="37" name="Text 35"/>
          <p:cNvSpPr/>
          <p:nvPr/>
        </p:nvSpPr>
        <p:spPr>
          <a:xfrm>
            <a:off x="4663440" y="4754880"/>
            <a:ext cx="2825496" cy="242316"/>
          </a:xfrm>
          <a:prstGeom prst="rect">
            <a:avLst/>
          </a:prstGeom>
          <a:noFill/>
          <a:ln/>
        </p:spPr>
        <p:txBody>
          <a:bodyPr wrap="square" lIns="0" tIns="0" rIns="0" bIns="0" rtlCol="0" anchor="ctr"/>
          <a:lstStyle/>
          <a:p>
            <a:pPr marL="0" indent="0">
              <a:buNone/>
            </a:pPr>
            <a:r>
              <a:rPr lang="en-US" sz="1400" dirty="0">
                <a:solidFill>
                  <a:srgbClr val="E6EDF3"/>
                </a:solidFill>
                <a:latin typeface="Courier New" pitchFamily="34" charset="0"/>
                <a:ea typeface="Courier New" pitchFamily="34" charset="-122"/>
                <a:cs typeface="Courier New" pitchFamily="34" charset="-120"/>
              </a:rPr>
              <a:t>hello()</a:t>
            </a:r>
            <a:r>
              <a:rPr lang="en-US" sz="1400" dirty="0">
                <a:solidFill>
                  <a:srgbClr val="F2B705"/>
                </a:solidFill>
                <a:latin typeface="Courier New" pitchFamily="34" charset="0"/>
                <a:ea typeface="Courier New" pitchFamily="34" charset="-122"/>
                <a:cs typeface="Courier New" pitchFamily="34" charset="-120"/>
              </a:rPr>
              <a:t>  # NameError</a:t>
            </a:r>
            <a:endParaRPr lang="en-US" sz="1400" dirty="0"/>
          </a:p>
        </p:txBody>
      </p:sp>
      <p:sp>
        <p:nvSpPr>
          <p:cNvPr id="38" name="Text 36"/>
          <p:cNvSpPr/>
          <p:nvPr/>
        </p:nvSpPr>
        <p:spPr>
          <a:xfrm>
            <a:off x="4663440" y="4997196"/>
            <a:ext cx="2825496" cy="242316"/>
          </a:xfrm>
          <a:prstGeom prst="rect">
            <a:avLst/>
          </a:prstGeom>
          <a:noFill/>
          <a:ln/>
        </p:spPr>
        <p:txBody>
          <a:bodyPr wrap="square" lIns="0" tIns="0" rIns="0" bIns="0" rtlCol="0" anchor="ctr"/>
          <a:lstStyle/>
          <a:p>
            <a:pPr marL="0" indent="0">
              <a:buNone/>
            </a:pPr>
            <a:r>
              <a:rPr lang="en-US" sz="1400" dirty="0">
                <a:solidFill>
                  <a:srgbClr val="E6EDF3"/>
                </a:solidFill>
                <a:latin typeface="Courier New" pitchFamily="34" charset="0"/>
                <a:ea typeface="Courier New" pitchFamily="34" charset="-122"/>
                <a:cs typeface="Courier New" pitchFamily="34" charset="-120"/>
              </a:rPr>
              <a:t>def hello():</a:t>
            </a:r>
            <a:endParaRPr lang="en-US" sz="1400" dirty="0"/>
          </a:p>
        </p:txBody>
      </p:sp>
      <p:sp>
        <p:nvSpPr>
          <p:cNvPr id="39" name="Text 37"/>
          <p:cNvSpPr/>
          <p:nvPr/>
        </p:nvSpPr>
        <p:spPr>
          <a:xfrm>
            <a:off x="4663440" y="5239512"/>
            <a:ext cx="2825496" cy="242316"/>
          </a:xfrm>
          <a:prstGeom prst="rect">
            <a:avLst/>
          </a:prstGeom>
          <a:noFill/>
          <a:ln/>
        </p:spPr>
        <p:txBody>
          <a:bodyPr wrap="square" lIns="0" tIns="0" rIns="0" bIns="0" rtlCol="0" anchor="ctr"/>
          <a:lstStyle/>
          <a:p>
            <a:pPr marL="0" indent="0">
              <a:buNone/>
            </a:pPr>
            <a:r>
              <a:rPr lang="en-US" sz="1400" dirty="0">
                <a:solidFill>
                  <a:srgbClr val="E6EDF3"/>
                </a:solidFill>
                <a:latin typeface="Courier New" pitchFamily="34" charset="0"/>
                <a:ea typeface="Courier New" pitchFamily="34" charset="-122"/>
                <a:cs typeface="Courier New" pitchFamily="34" charset="-120"/>
              </a:rPr>
              <a:t>    print("hi")</a:t>
            </a:r>
            <a:endParaRPr lang="en-US" sz="1400" dirty="0"/>
          </a:p>
        </p:txBody>
      </p:sp>
      <p:sp>
        <p:nvSpPr>
          <p:cNvPr id="40" name="Text 38"/>
          <p:cNvSpPr/>
          <p:nvPr/>
        </p:nvSpPr>
        <p:spPr>
          <a:xfrm>
            <a:off x="4553712" y="5870448"/>
            <a:ext cx="3044952" cy="502920"/>
          </a:xfrm>
          <a:prstGeom prst="rect">
            <a:avLst/>
          </a:prstGeom>
          <a:noFill/>
          <a:ln/>
        </p:spPr>
        <p:txBody>
          <a:bodyPr wrap="square" rtlCol="0" anchor="t"/>
          <a:lstStyle/>
          <a:p>
            <a:pPr marL="0" indent="0">
              <a:buNone/>
            </a:pPr>
            <a:r>
              <a:rPr lang="en-US" sz="1500" dirty="0">
                <a:solidFill>
                  <a:srgbClr val="4A5568"/>
                </a:solidFill>
                <a:latin typeface="Calibri" pitchFamily="34" charset="0"/>
                <a:ea typeface="Calibri" pitchFamily="34" charset="-122"/>
                <a:cs typeface="Calibri" pitchFamily="34" charset="-120"/>
              </a:rPr>
              <a:t>Python reads top to bottom: define first.</a:t>
            </a:r>
            <a:endParaRPr lang="en-US" sz="1500" dirty="0"/>
          </a:p>
        </p:txBody>
      </p:sp>
      <p:sp>
        <p:nvSpPr>
          <p:cNvPr id="41" name="Shape 39"/>
          <p:cNvSpPr/>
          <p:nvPr/>
        </p:nvSpPr>
        <p:spPr>
          <a:xfrm>
            <a:off x="8010144" y="4114800"/>
            <a:ext cx="3502152" cy="2286000"/>
          </a:xfrm>
          <a:prstGeom prst="roundRect">
            <a:avLst>
              <a:gd name="adj" fmla="val 4000"/>
            </a:avLst>
          </a:prstGeom>
          <a:solidFill>
            <a:srgbClr val="FFFFFF"/>
          </a:solidFill>
          <a:ln/>
          <a:effectLst>
            <a:outerShdw blurRad="114300" dist="38100" dir="5400000" algn="bl" rotWithShape="0">
              <a:srgbClr val="1B2A4A">
                <a:alpha val="12000"/>
              </a:srgbClr>
            </a:outerShdw>
          </a:effectLst>
        </p:spPr>
      </p:sp>
      <p:sp>
        <p:nvSpPr>
          <p:cNvPr id="42" name="Text 40"/>
          <p:cNvSpPr/>
          <p:nvPr/>
        </p:nvSpPr>
        <p:spPr>
          <a:xfrm>
            <a:off x="8238744" y="4206240"/>
            <a:ext cx="3044952" cy="411480"/>
          </a:xfrm>
          <a:prstGeom prst="rect">
            <a:avLst/>
          </a:prstGeom>
          <a:noFill/>
          <a:ln/>
        </p:spPr>
        <p:txBody>
          <a:bodyPr wrap="square" rtlCol="0" anchor="ctr"/>
          <a:lstStyle/>
          <a:p>
            <a:pPr marL="0" indent="0">
              <a:buNone/>
            </a:pPr>
            <a:r>
              <a:rPr lang="en-US" sz="1800" b="1" dirty="0">
                <a:solidFill>
                  <a:srgbClr val="16213E"/>
                </a:solidFill>
                <a:latin typeface="Cambria" pitchFamily="34" charset="0"/>
                <a:ea typeface="Cambria" pitchFamily="34" charset="-122"/>
                <a:cs typeface="Cambria" pitchFamily="34" charset="-120"/>
              </a:rPr>
              <a:t>Naming a file random.py</a:t>
            </a:r>
            <a:endParaRPr lang="en-US" sz="1800" dirty="0"/>
          </a:p>
        </p:txBody>
      </p:sp>
      <p:sp>
        <p:nvSpPr>
          <p:cNvPr id="43" name="Shape 41"/>
          <p:cNvSpPr/>
          <p:nvPr/>
        </p:nvSpPr>
        <p:spPr>
          <a:xfrm>
            <a:off x="8238744" y="4645152"/>
            <a:ext cx="3044952" cy="1188720"/>
          </a:xfrm>
          <a:prstGeom prst="roundRect">
            <a:avLst>
              <a:gd name="adj" fmla="val 7692"/>
            </a:avLst>
          </a:prstGeom>
          <a:solidFill>
            <a:srgbClr val="16213E"/>
          </a:solidFill>
          <a:ln/>
          <a:effectLst>
            <a:outerShdw blurRad="114300" dist="38100" dir="5400000" algn="bl" rotWithShape="0">
              <a:srgbClr val="1B2A4A">
                <a:alpha val="18000"/>
              </a:srgbClr>
            </a:outerShdw>
          </a:effectLst>
        </p:spPr>
      </p:sp>
      <p:sp>
        <p:nvSpPr>
          <p:cNvPr id="44" name="Text 42"/>
          <p:cNvSpPr/>
          <p:nvPr/>
        </p:nvSpPr>
        <p:spPr>
          <a:xfrm>
            <a:off x="8348472" y="4754880"/>
            <a:ext cx="2825496" cy="242316"/>
          </a:xfrm>
          <a:prstGeom prst="rect">
            <a:avLst/>
          </a:prstGeom>
          <a:noFill/>
          <a:ln/>
        </p:spPr>
        <p:txBody>
          <a:bodyPr wrap="square" lIns="0" tIns="0" rIns="0" bIns="0" rtlCol="0" anchor="ctr"/>
          <a:lstStyle/>
          <a:p>
            <a:pPr marL="0" indent="0">
              <a:buNone/>
            </a:pPr>
            <a:r>
              <a:rPr lang="en-US" sz="1400" dirty="0">
                <a:solidFill>
                  <a:srgbClr val="E6EDF3"/>
                </a:solidFill>
                <a:latin typeface="Courier New" pitchFamily="34" charset="0"/>
                <a:ea typeface="Courier New" pitchFamily="34" charset="-122"/>
                <a:cs typeface="Courier New" pitchFamily="34" charset="-120"/>
              </a:rPr>
              <a:t>import random</a:t>
            </a:r>
            <a:endParaRPr lang="en-US" sz="1400" dirty="0"/>
          </a:p>
        </p:txBody>
      </p:sp>
      <p:sp>
        <p:nvSpPr>
          <p:cNvPr id="45" name="Text 43"/>
          <p:cNvSpPr/>
          <p:nvPr/>
        </p:nvSpPr>
        <p:spPr>
          <a:xfrm>
            <a:off x="8348472" y="4997196"/>
            <a:ext cx="2825496" cy="242316"/>
          </a:xfrm>
          <a:prstGeom prst="rect">
            <a:avLst/>
          </a:prstGeom>
          <a:noFill/>
          <a:ln/>
        </p:spPr>
        <p:txBody>
          <a:bodyPr wrap="square" lIns="0" tIns="0" rIns="0" bIns="0" rtlCol="0" anchor="ctr"/>
          <a:lstStyle/>
          <a:p>
            <a:pPr marL="0" indent="0">
              <a:buNone/>
            </a:pPr>
            <a:r>
              <a:rPr lang="en-US" sz="1400" dirty="0">
                <a:solidFill>
                  <a:srgbClr val="E6EDF3"/>
                </a:solidFill>
                <a:latin typeface="Courier New" pitchFamily="34" charset="0"/>
                <a:ea typeface="Courier New" pitchFamily="34" charset="-122"/>
                <a:cs typeface="Courier New" pitchFamily="34" charset="-120"/>
              </a:rPr>
              <a:t>random.randint(1, 6)</a:t>
            </a:r>
            <a:endParaRPr lang="en-US" sz="1400" dirty="0"/>
          </a:p>
        </p:txBody>
      </p:sp>
      <p:sp>
        <p:nvSpPr>
          <p:cNvPr id="46" name="Text 44"/>
          <p:cNvSpPr/>
          <p:nvPr/>
        </p:nvSpPr>
        <p:spPr>
          <a:xfrm>
            <a:off x="8348472" y="5239512"/>
            <a:ext cx="2825496" cy="242316"/>
          </a:xfrm>
          <a:prstGeom prst="rect">
            <a:avLst/>
          </a:prstGeom>
          <a:noFill/>
          <a:ln/>
        </p:spPr>
        <p:txBody>
          <a:bodyPr wrap="square" lIns="0" tIns="0" rIns="0" bIns="0" rtlCol="0" anchor="ctr"/>
          <a:lstStyle/>
          <a:p>
            <a:pPr marL="0" indent="0">
              <a:buNone/>
            </a:pPr>
            <a:r>
              <a:rPr lang="en-US" sz="1400" dirty="0">
                <a:solidFill>
                  <a:srgbClr val="F2B705"/>
                </a:solidFill>
                <a:latin typeface="Courier New" pitchFamily="34" charset="0"/>
                <a:ea typeface="Courier New" pitchFamily="34" charset="-122"/>
                <a:cs typeface="Courier New" pitchFamily="34" charset="-120"/>
              </a:rPr>
              <a:t># AttributeError</a:t>
            </a:r>
            <a:endParaRPr lang="en-US" sz="1400" dirty="0"/>
          </a:p>
        </p:txBody>
      </p:sp>
      <p:sp>
        <p:nvSpPr>
          <p:cNvPr id="47" name="Text 45"/>
          <p:cNvSpPr/>
          <p:nvPr/>
        </p:nvSpPr>
        <p:spPr>
          <a:xfrm>
            <a:off x="8238744" y="5870448"/>
            <a:ext cx="3044952" cy="502920"/>
          </a:xfrm>
          <a:prstGeom prst="rect">
            <a:avLst/>
          </a:prstGeom>
          <a:noFill/>
          <a:ln/>
        </p:spPr>
        <p:txBody>
          <a:bodyPr wrap="square" rtlCol="0" anchor="t"/>
          <a:lstStyle/>
          <a:p>
            <a:pPr marL="0" indent="0">
              <a:buNone/>
            </a:pPr>
            <a:r>
              <a:rPr lang="en-US" sz="1500" dirty="0">
                <a:solidFill>
                  <a:srgbClr val="4A5568"/>
                </a:solidFill>
                <a:latin typeface="Calibri" pitchFamily="34" charset="0"/>
                <a:ea typeface="Calibri" pitchFamily="34" charset="-122"/>
                <a:cs typeface="Calibri" pitchFamily="34" charset="-120"/>
              </a:rPr>
              <a:t>Your file hides the real module. Rename it.</a:t>
            </a:r>
            <a:endParaRPr lang="en-US" sz="1500" dirty="0"/>
          </a:p>
        </p:txBody>
      </p:sp>
      <p:sp>
        <p:nvSpPr>
          <p:cNvPr id="48" name="Text 46"/>
          <p:cNvSpPr/>
          <p:nvPr/>
        </p:nvSpPr>
        <p:spPr>
          <a:xfrm>
            <a:off x="640080" y="6510528"/>
            <a:ext cx="4572000" cy="274320"/>
          </a:xfrm>
          <a:prstGeom prst="rect">
            <a:avLst/>
          </a:prstGeom>
          <a:noFill/>
          <a:ln/>
        </p:spPr>
        <p:txBody>
          <a:bodyPr wrap="square" rtlCol="0" anchor="ctr"/>
          <a:lstStyle/>
          <a:p>
            <a:pPr marL="0" indent="0">
              <a:buNone/>
            </a:pPr>
            <a:r>
              <a:rPr lang="en-US" sz="1200" dirty="0">
                <a:solidFill>
                  <a:srgbClr val="4A5568"/>
                </a:solidFill>
                <a:latin typeface="Calibri" pitchFamily="34" charset="0"/>
                <a:ea typeface="Calibri" pitchFamily="34" charset="-122"/>
                <a:cs typeface="Calibri" pitchFamily="34" charset="-120"/>
              </a:rPr>
              <a:t>INFO1 · Mission 3 (S4)</a:t>
            </a:r>
            <a:endParaRPr lang="en-US" sz="1200" dirty="0"/>
          </a:p>
        </p:txBody>
      </p:sp>
      <p:sp>
        <p:nvSpPr>
          <p:cNvPr id="49" name="Text 47"/>
          <p:cNvSpPr/>
          <p:nvPr/>
        </p:nvSpPr>
        <p:spPr>
          <a:xfrm>
            <a:off x="10180015" y="6510528"/>
            <a:ext cx="1371600" cy="274320"/>
          </a:xfrm>
          <a:prstGeom prst="rect">
            <a:avLst/>
          </a:prstGeom>
          <a:noFill/>
          <a:ln/>
        </p:spPr>
        <p:txBody>
          <a:bodyPr wrap="square" rtlCol="0" anchor="ctr"/>
          <a:lstStyle/>
          <a:p>
            <a:pPr marL="0" indent="0" algn="r">
              <a:buNone/>
            </a:pPr>
            <a:r>
              <a:rPr lang="en-US" sz="1200" dirty="0">
                <a:solidFill>
                  <a:srgbClr val="4A5568"/>
                </a:solidFill>
                <a:latin typeface="Calibri" pitchFamily="34" charset="0"/>
                <a:ea typeface="Calibri" pitchFamily="34" charset="-122"/>
                <a:cs typeface="Calibri" pitchFamily="34" charset="-120"/>
              </a:rPr>
              <a:t>6 / 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6</Slides>
  <Notes>6</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INFO1 Mission 3 (S4)</dc:title>
  <dc:subject>PptxGenJS Presentation</dc:subject>
  <dc:creator>Jean-Luc Bibaud</dc:creator>
  <cp:lastModifiedBy>Jean-Luc Bibaud</cp:lastModifiedBy>
  <cp:revision>2</cp:revision>
  <dcterms:created xsi:type="dcterms:W3CDTF">2026-10-06T00:07:27Z</dcterms:created>
  <dcterms:modified xsi:type="dcterms:W3CDTF">2026-10-07T19:12:34Z</dcterms:modified>
</cp:coreProperties>
</file>