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2225F6-E8BB-3EB2-24EB-464199C8E620}" v="63" dt="2026-10-05T23:14:33.0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6866B1-495C-430B-8D70-11435AC7FB48}" type="datetimeFigureOut">
              <a:t>10/5/2026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0C2498-C301-4607-9BBE-1696453CCD3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3807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463040"/>
            <a:ext cx="3840480" cy="3840480"/>
          </a:xfrm>
          <a:prstGeom prst="ellipse">
            <a:avLst/>
          </a:prstGeom>
          <a:solidFill>
            <a:srgbClr val="24345F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937760"/>
            <a:ext cx="3108960" cy="3108960"/>
          </a:xfrm>
          <a:prstGeom prst="ellipse">
            <a:avLst/>
          </a:prstGeom>
          <a:solidFill>
            <a:srgbClr val="24345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2331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FUNDAMENTALS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788920"/>
            <a:ext cx="10881360" cy="1371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5400" b="1" dirty="0">
                <a:solidFill>
                  <a:srgbClr val="FFFFFF"/>
                </a:solidFill>
                <a:latin typeface="Cambria"/>
                <a:ea typeface="Cambria"/>
                <a:cs typeface="Cambria" pitchFamily="34" charset="-120"/>
              </a:rPr>
              <a:t>INFO1 Mission 2 (S3)</a:t>
            </a:r>
            <a:endParaRPr lang="en-US" sz="5400" dirty="0">
              <a:latin typeface="Cambria"/>
              <a:ea typeface="Cambria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640080" y="39776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B9C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Jean-Luc Bibaud</a:t>
            </a:r>
            <a:endParaRPr lang="en-US" sz="2400" dirty="0"/>
          </a:p>
        </p:txBody>
      </p:sp>
      <p:pic>
        <p:nvPicPr>
          <p:cNvPr id="7" name="Image 0" descr="/home/claude/work/unpacked3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989320"/>
            <a:ext cx="1554480" cy="52486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E8A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VARIABLES, VALUES &amp; DATA TYPES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 and Value</a:t>
            </a:r>
            <a:endParaRPr lang="en-US" sz="4000" dirty="0"/>
          </a:p>
        </p:txBody>
      </p:sp>
      <p:pic>
        <p:nvPicPr>
          <p:cNvPr id="4" name="Image 0" descr="/home/claude/work/unpacked3/ppt/media/image2.png"/>
          <p:cNvPicPr>
            <a:picLocks noChangeAspect="1"/>
          </p:cNvPicPr>
          <p:nvPr/>
        </p:nvPicPr>
        <p:blipFill>
          <a:blip r:embed="rId3"/>
          <a:srcRect t="-3425" b="-3425"/>
          <a:stretch/>
        </p:blipFill>
        <p:spPr>
          <a:xfrm>
            <a:off x="640080" y="1920240"/>
            <a:ext cx="3337560" cy="4480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754880" y="1920240"/>
            <a:ext cx="6796735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5120640" y="2103120"/>
            <a:ext cx="60652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type(value)  →  its type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5120640" y="28803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8046720" y="2880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A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8778240" y="2880360"/>
            <a:ext cx="24076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6C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5120640" y="37033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3.14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8046720" y="3703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A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2" name="Text 9"/>
          <p:cNvSpPr txBox="1"/>
          <p:nvPr/>
        </p:nvSpPr>
        <p:spPr>
          <a:xfrm>
            <a:off x="8778240" y="3703320"/>
            <a:ext cx="24076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6C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endParaRPr lang="en-US" sz="2800" dirty="0"/>
          </a:p>
        </p:txBody>
      </p:sp>
      <p:sp>
        <p:nvSpPr>
          <p:cNvPr id="13" name="Text 10"/>
          <p:cNvSpPr txBox="1"/>
          <p:nvPr/>
        </p:nvSpPr>
        <p:spPr>
          <a:xfrm>
            <a:off x="5120640" y="45262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"Ada"</a:t>
            </a:r>
            <a:endParaRPr lang="en-US" sz="2800" dirty="0"/>
          </a:p>
        </p:txBody>
      </p:sp>
      <p:sp>
        <p:nvSpPr>
          <p:cNvPr id="14" name="Text 11"/>
          <p:cNvSpPr txBox="1"/>
          <p:nvPr/>
        </p:nvSpPr>
        <p:spPr>
          <a:xfrm>
            <a:off x="8046720" y="4526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A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5" name="Text 12"/>
          <p:cNvSpPr txBox="1"/>
          <p:nvPr/>
        </p:nvSpPr>
        <p:spPr>
          <a:xfrm>
            <a:off x="8778240" y="4526280"/>
            <a:ext cx="24076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6C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</a:t>
            </a:r>
            <a:endParaRPr lang="en-US" sz="2800" dirty="0"/>
          </a:p>
        </p:txBody>
      </p:sp>
      <p:sp>
        <p:nvSpPr>
          <p:cNvPr id="16" name="Text 13"/>
          <p:cNvSpPr txBox="1"/>
          <p:nvPr/>
        </p:nvSpPr>
        <p:spPr>
          <a:xfrm>
            <a:off x="5120640" y="534924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2800" dirty="0"/>
          </a:p>
        </p:txBody>
      </p:sp>
      <p:sp>
        <p:nvSpPr>
          <p:cNvPr id="17" name="Text 14"/>
          <p:cNvSpPr txBox="1"/>
          <p:nvPr/>
        </p:nvSpPr>
        <p:spPr>
          <a:xfrm>
            <a:off x="8046720" y="5349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A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8" name="Text 15"/>
          <p:cNvSpPr txBox="1"/>
          <p:nvPr/>
        </p:nvSpPr>
        <p:spPr>
          <a:xfrm>
            <a:off x="8778240" y="5349240"/>
            <a:ext cx="24076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6C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</a:t>
            </a:r>
            <a:endParaRPr lang="en-US" sz="28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INFO1 · Mission 1 (S2)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10180015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E8A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Concatenation vs Addition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516636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05840" y="2377440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Addition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05840" y="3154680"/>
            <a:ext cx="4434840" cy="960120"/>
          </a:xfrm>
          <a:prstGeom prst="roundRect">
            <a:avLst>
              <a:gd name="adj" fmla="val 9524"/>
            </a:avLst>
          </a:prstGeom>
          <a:solidFill>
            <a:srgbClr val="16213E"/>
          </a:solidFill>
          <a:ln/>
          <a:effectLst>
            <a:outerShdw blurRad="101600" dist="38100" dir="5400000" algn="bl" rotWithShape="0">
              <a:srgbClr val="1B2A4A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1280160" y="342900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+ 1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4343400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A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</a:t>
            </a:r>
            <a:r>
              <a:rPr lang="en-US" sz="2200" b="1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2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numbers are added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355080" y="2103120"/>
            <a:ext cx="516636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720840" y="2377440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Concatenation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6720840" y="3154680"/>
            <a:ext cx="4434840" cy="960120"/>
          </a:xfrm>
          <a:prstGeom prst="roundRect">
            <a:avLst>
              <a:gd name="adj" fmla="val 9524"/>
            </a:avLst>
          </a:prstGeom>
          <a:solidFill>
            <a:srgbClr val="16213E"/>
          </a:solidFill>
          <a:ln/>
          <a:effectLst>
            <a:outerShdw blurRad="101600" dist="38100" dir="5400000" algn="bl" rotWithShape="0">
              <a:srgbClr val="1B2A4A">
                <a:alpha val="1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995160" y="342900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"hi " + "world"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6720840" y="4343400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A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</a:t>
            </a:r>
            <a:r>
              <a:rPr lang="en-US" sz="2200" b="1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"hi world"</a:t>
            </a:r>
            <a:r>
              <a:rPr lang="en-US" sz="2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strings are joined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INFO1 · Mission 1 (S2)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180015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E8A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FLOW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branch runs?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852160" cy="4023360"/>
          </a:xfrm>
          <a:prstGeom prst="roundRect">
            <a:avLst>
              <a:gd name="adj" fmla="val 2273"/>
            </a:avLst>
          </a:prstGeom>
          <a:solidFill>
            <a:srgbClr val="16213E"/>
          </a:solidFill>
          <a:ln/>
          <a:effectLst>
            <a:outerShdw blurRad="101600" dist="38100" dir="5400000" algn="bl" rotWithShape="0">
              <a:srgbClr val="1B2A4A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05840" y="2286000"/>
            <a:ext cx="5120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x &lt; y: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816352"/>
            <a:ext cx="5120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print("STATEMENTS_A")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346704"/>
            <a:ext cx="5120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 x &gt; y: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3877056"/>
            <a:ext cx="5120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print("STATEMENTS_B")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4407408"/>
            <a:ext cx="5120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4937760"/>
            <a:ext cx="5120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print("STATEMENTS_C")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7040880" y="1920240"/>
            <a:ext cx="4510735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406640" y="2148840"/>
            <a:ext cx="377921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example, what happens if we have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7406640" y="3246120"/>
            <a:ext cx="3779215" cy="1280160"/>
          </a:xfrm>
          <a:prstGeom prst="roundRect">
            <a:avLst>
              <a:gd name="adj" fmla="val 7143"/>
            </a:avLst>
          </a:prstGeom>
          <a:solidFill>
            <a:srgbClr val="16213E"/>
          </a:solidFill>
          <a:ln/>
          <a:effectLst>
            <a:outerShdw blurRad="101600" dist="38100" dir="5400000" algn="bl" rotWithShape="0">
              <a:srgbClr val="1B2A4A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680960" y="3520440"/>
            <a:ext cx="3230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3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7680960" y="3977640"/>
            <a:ext cx="3230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4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INFO1 · Mission 1 (S2)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0180015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E8A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Explicit vs Implicit type conversion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516636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05840" y="2377440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Explicit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05840" y="3154680"/>
            <a:ext cx="4434840" cy="1325880"/>
          </a:xfrm>
          <a:prstGeom prst="roundRect">
            <a:avLst>
              <a:gd name="adj" fmla="val 6897"/>
            </a:avLst>
          </a:prstGeom>
          <a:solidFill>
            <a:srgbClr val="16213E"/>
          </a:solidFill>
          <a:ln/>
          <a:effectLst>
            <a:outerShdw blurRad="101600" dist="38100" dir="5400000" algn="bl" rotWithShape="0">
              <a:srgbClr val="1B2A4A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1280160" y="342900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str(55.55)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4709160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ask for the conversion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355080" y="2103120"/>
            <a:ext cx="516636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720840" y="2377440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Implicit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6720840" y="3154680"/>
            <a:ext cx="4434840" cy="1325880"/>
          </a:xfrm>
          <a:prstGeom prst="roundRect">
            <a:avLst>
              <a:gd name="adj" fmla="val 6897"/>
            </a:avLst>
          </a:prstGeom>
          <a:solidFill>
            <a:srgbClr val="16213E"/>
          </a:solidFill>
          <a:ln/>
          <a:effectLst>
            <a:outerShdw blurRad="101600" dist="38100" dir="5400000" algn="bl" rotWithShape="0">
              <a:srgbClr val="1B2A4A">
                <a:alpha val="1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995160" y="342900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2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6995160" y="388620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A + 0.14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6720840" y="4709160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converts for you (int → float)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INFO1 · Mission 1 (S2)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0180015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E8A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FLOW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loops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88136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B2A4A">
                <a:alpha val="12000"/>
              </a:srgbClr>
            </a:outerShdw>
          </a:effectLst>
        </p:spPr>
      </p:sp>
      <p:pic>
        <p:nvPicPr>
          <p:cNvPr id="5" name="Image 0" descr="/home/claude/work/unpacked3/ppt/media/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2242619"/>
            <a:ext cx="9692640" cy="356148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INFO1 · Mission 1 (S2)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0180015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E8A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FLOW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Range for making numbers Iterable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10881360" cy="1188720"/>
          </a:xfrm>
          <a:prstGeom prst="roundRect">
            <a:avLst>
              <a:gd name="adj" fmla="val 7692"/>
            </a:avLst>
          </a:prstGeom>
          <a:solidFill>
            <a:srgbClr val="16213E"/>
          </a:solidFill>
          <a:ln/>
          <a:effectLst>
            <a:outerShdw blurRad="101600" dist="38100" dir="5400000" algn="bl" rotWithShape="0">
              <a:srgbClr val="1B2A4A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05840" y="2468880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range(</a:t>
            </a:r>
            <a:r>
              <a:rPr lang="en-US" sz="3200" dirty="0">
                <a:solidFill>
                  <a:srgbClr val="F2B7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</a:t>
            </a:r>
            <a:r>
              <a:rPr lang="en-US" sz="3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3200" dirty="0">
                <a:solidFill>
                  <a:srgbClr val="F2B7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stop</a:t>
            </a:r>
            <a:r>
              <a:rPr lang="en-US" sz="3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3200" dirty="0">
                <a:solidFill>
                  <a:srgbClr val="F2B7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</a:t>
            </a:r>
            <a:r>
              <a:rPr lang="en-US" sz="3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3657600"/>
            <a:ext cx="1088136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1097280" y="3657600"/>
            <a:ext cx="9966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range(stop)</a:t>
            </a:r>
            <a:r>
              <a:rPr lang="en-US" sz="28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is the same as  </a:t>
            </a:r>
            <a:r>
              <a:rPr lang="en-US" sz="2800" b="1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range(0, stop, 1)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INFO1 · Mission 1 (S2)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180015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E8A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FLOW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 to get out of a loop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120640" cy="4114800"/>
          </a:xfrm>
          <a:prstGeom prst="roundRect">
            <a:avLst>
              <a:gd name="adj" fmla="val 2222"/>
            </a:avLst>
          </a:prstGeom>
          <a:solidFill>
            <a:srgbClr val="16213E"/>
          </a:solidFill>
          <a:ln/>
          <a:effectLst>
            <a:outerShdw blurRad="101600" dist="38100" dir="5400000" algn="bl" rotWithShape="0">
              <a:srgbClr val="1B2A4A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05840" y="228600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range(5):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500233" y="288036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print(i)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500233" y="347472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i == 3: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926590" y="406908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break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217920" y="1920240"/>
            <a:ext cx="1655978" cy="4114800"/>
          </a:xfrm>
          <a:prstGeom prst="roundRect">
            <a:avLst>
              <a:gd name="adj" fmla="val 5522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725869" y="214884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725869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2B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3017520"/>
            <a:ext cx="16559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3474720"/>
            <a:ext cx="16559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3931920"/>
            <a:ext cx="16559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8056778" y="1920240"/>
            <a:ext cx="1655978" cy="4114800"/>
          </a:xfrm>
          <a:prstGeom prst="roundRect">
            <a:avLst>
              <a:gd name="adj" fmla="val 5522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564728" y="214884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564728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2B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8056778" y="3017520"/>
            <a:ext cx="16559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8056778" y="3474720"/>
            <a:ext cx="16559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8056778" y="3931920"/>
            <a:ext cx="16559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8056778" y="4389120"/>
            <a:ext cx="16559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9895637" y="1920240"/>
            <a:ext cx="1655978" cy="4114800"/>
          </a:xfrm>
          <a:prstGeom prst="roundRect">
            <a:avLst>
              <a:gd name="adj" fmla="val 5522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0403586" y="214884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0403586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2B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400" dirty="0"/>
          </a:p>
        </p:txBody>
      </p:sp>
      <p:sp>
        <p:nvSpPr>
          <p:cNvPr id="25" name="Text 23"/>
          <p:cNvSpPr txBox="1"/>
          <p:nvPr/>
        </p:nvSpPr>
        <p:spPr>
          <a:xfrm>
            <a:off x="9895637" y="3017520"/>
            <a:ext cx="16559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600" dirty="0"/>
          </a:p>
        </p:txBody>
      </p:sp>
      <p:sp>
        <p:nvSpPr>
          <p:cNvPr id="26" name="Text 24"/>
          <p:cNvSpPr txBox="1"/>
          <p:nvPr/>
        </p:nvSpPr>
        <p:spPr>
          <a:xfrm>
            <a:off x="9895637" y="3474720"/>
            <a:ext cx="16559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600" dirty="0"/>
          </a:p>
        </p:txBody>
      </p:sp>
      <p:sp>
        <p:nvSpPr>
          <p:cNvPr id="27" name="Text 25"/>
          <p:cNvSpPr txBox="1"/>
          <p:nvPr/>
        </p:nvSpPr>
        <p:spPr>
          <a:xfrm>
            <a:off x="9895637" y="3931920"/>
            <a:ext cx="16559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600" dirty="0"/>
          </a:p>
        </p:txBody>
      </p:sp>
      <p:sp>
        <p:nvSpPr>
          <p:cNvPr id="28" name="Text 26"/>
          <p:cNvSpPr txBox="1"/>
          <p:nvPr/>
        </p:nvSpPr>
        <p:spPr>
          <a:xfrm>
            <a:off x="9895637" y="4389120"/>
            <a:ext cx="16559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600" dirty="0"/>
          </a:p>
        </p:txBody>
      </p:sp>
      <p:sp>
        <p:nvSpPr>
          <p:cNvPr id="29" name="Text 27"/>
          <p:cNvSpPr txBox="1"/>
          <p:nvPr/>
        </p:nvSpPr>
        <p:spPr>
          <a:xfrm>
            <a:off x="9895637" y="4846320"/>
            <a:ext cx="16559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2600" dirty="0"/>
          </a:p>
        </p:txBody>
      </p:sp>
      <p:sp>
        <p:nvSpPr>
          <p:cNvPr id="30" name="Text 28"/>
          <p:cNvSpPr txBox="1"/>
          <p:nvPr/>
        </p:nvSpPr>
        <p:spPr>
          <a:xfrm>
            <a:off x="640080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INFO1 · Mission 1 (S2)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10180015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1200" dirty="0"/>
          </a:p>
        </p:txBody>
      </p:sp>
      <p:sp>
        <p:nvSpPr>
          <p:cNvPr id="32" name="Text 28">
            <a:extLst>
              <a:ext uri="{FF2B5EF4-FFF2-40B4-BE49-F238E27FC236}">
                <a16:creationId xmlns:a16="http://schemas.microsoft.com/office/drawing/2014/main" id="{463BDDD7-5E46-897A-48F6-681BD6EEDC4B}"/>
              </a:ext>
            </a:extLst>
          </p:cNvPr>
          <p:cNvSpPr txBox="1"/>
          <p:nvPr/>
        </p:nvSpPr>
        <p:spPr>
          <a:xfrm rot="10800000">
            <a:off x="6473008" y="6510527"/>
            <a:ext cx="45720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 dirty="0">
                <a:solidFill>
                  <a:srgbClr val="4A5568"/>
                </a:solidFill>
                <a:ea typeface="Calibri"/>
                <a:cs typeface="Calibri"/>
              </a:rPr>
              <a:t>The correct answer is B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E8A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FLOW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Continue to skip an iteration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120640" cy="4114800"/>
          </a:xfrm>
          <a:prstGeom prst="roundRect">
            <a:avLst>
              <a:gd name="adj" fmla="val 2222"/>
            </a:avLst>
          </a:prstGeom>
          <a:solidFill>
            <a:srgbClr val="16213E"/>
          </a:solidFill>
          <a:ln/>
          <a:effectLst>
            <a:outerShdw blurRad="101600" dist="38100" dir="5400000" algn="bl" rotWithShape="0">
              <a:srgbClr val="1B2A4A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05840" y="228600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range(5):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373233" y="2835003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print(i)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373233" y="3429363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i == 3: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831340" y="3978366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continue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217920" y="1920240"/>
            <a:ext cx="1655978" cy="4114800"/>
          </a:xfrm>
          <a:prstGeom prst="roundRect">
            <a:avLst>
              <a:gd name="adj" fmla="val 5522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725869" y="214884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725869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2B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3017520"/>
            <a:ext cx="16559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3474720"/>
            <a:ext cx="16559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3931920"/>
            <a:ext cx="16559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4801870"/>
            <a:ext cx="16559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8056778" y="1920240"/>
            <a:ext cx="1655978" cy="4114800"/>
          </a:xfrm>
          <a:prstGeom prst="roundRect">
            <a:avLst>
              <a:gd name="adj" fmla="val 5522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564728" y="214884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564728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2B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8056778" y="3017520"/>
            <a:ext cx="16559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8056778" y="3474720"/>
            <a:ext cx="16559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8056778" y="3931920"/>
            <a:ext cx="16559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8056778" y="4389120"/>
            <a:ext cx="16559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600" dirty="0"/>
          </a:p>
        </p:txBody>
      </p:sp>
      <p:sp>
        <p:nvSpPr>
          <p:cNvPr id="23" name="Shape 21"/>
          <p:cNvSpPr/>
          <p:nvPr/>
        </p:nvSpPr>
        <p:spPr>
          <a:xfrm>
            <a:off x="9895637" y="1920240"/>
            <a:ext cx="1655978" cy="4114800"/>
          </a:xfrm>
          <a:prstGeom prst="roundRect">
            <a:avLst>
              <a:gd name="adj" fmla="val 5522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0403586" y="214884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0403586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2B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9895637" y="3017520"/>
            <a:ext cx="16559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600" dirty="0"/>
          </a:p>
        </p:txBody>
      </p:sp>
      <p:sp>
        <p:nvSpPr>
          <p:cNvPr id="27" name="Text 25"/>
          <p:cNvSpPr txBox="1"/>
          <p:nvPr/>
        </p:nvSpPr>
        <p:spPr>
          <a:xfrm>
            <a:off x="9895637" y="3474720"/>
            <a:ext cx="16559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600" dirty="0"/>
          </a:p>
        </p:txBody>
      </p:sp>
      <p:sp>
        <p:nvSpPr>
          <p:cNvPr id="28" name="Text 26"/>
          <p:cNvSpPr txBox="1"/>
          <p:nvPr/>
        </p:nvSpPr>
        <p:spPr>
          <a:xfrm>
            <a:off x="9895637" y="3931920"/>
            <a:ext cx="16559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60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INFO1 · Mission 1 (S2)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10180015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9</a:t>
            </a:r>
            <a:endParaRPr lang="en-US" sz="1200" dirty="0"/>
          </a:p>
        </p:txBody>
      </p:sp>
      <p:sp>
        <p:nvSpPr>
          <p:cNvPr id="32" name="Text 28">
            <a:extLst>
              <a:ext uri="{FF2B5EF4-FFF2-40B4-BE49-F238E27FC236}">
                <a16:creationId xmlns:a16="http://schemas.microsoft.com/office/drawing/2014/main" id="{383EF758-09CF-8585-1D92-465CB2BBB0EC}"/>
              </a:ext>
            </a:extLst>
          </p:cNvPr>
          <p:cNvSpPr txBox="1"/>
          <p:nvPr/>
        </p:nvSpPr>
        <p:spPr>
          <a:xfrm rot="10800000">
            <a:off x="6473008" y="6510527"/>
            <a:ext cx="45720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 dirty="0">
                <a:solidFill>
                  <a:srgbClr val="4A5568"/>
                </a:solidFill>
                <a:ea typeface="Calibri"/>
                <a:cs typeface="Calibri"/>
              </a:rPr>
              <a:t>The correct answer is A</a:t>
            </a:r>
          </a:p>
        </p:txBody>
      </p:sp>
      <p:sp>
        <p:nvSpPr>
          <p:cNvPr id="33" name="Text 12">
            <a:extLst>
              <a:ext uri="{FF2B5EF4-FFF2-40B4-BE49-F238E27FC236}">
                <a16:creationId xmlns:a16="http://schemas.microsoft.com/office/drawing/2014/main" id="{B1403DBE-197C-71B1-9801-62529090F5C6}"/>
              </a:ext>
            </a:extLst>
          </p:cNvPr>
          <p:cNvSpPr txBox="1"/>
          <p:nvPr/>
        </p:nvSpPr>
        <p:spPr>
          <a:xfrm>
            <a:off x="6217919" y="4344669"/>
            <a:ext cx="1655978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6213E"/>
                </a:solidFill>
                <a:latin typeface="Courier New"/>
                <a:cs typeface="Courier New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9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INFO1 Mission 1 (S2)</dc:title>
  <dc:subject>PptxGenJS Presentation</dc:subject>
  <dc:creator>Jean-Luc Bibaud</dc:creator>
  <cp:lastModifiedBy>Jean-Luc Bibaud</cp:lastModifiedBy>
  <cp:revision>57</cp:revision>
  <dcterms:created xsi:type="dcterms:W3CDTF">2026-09-28T16:49:41Z</dcterms:created>
  <dcterms:modified xsi:type="dcterms:W3CDTF">2026-10-05T23:14:56Z</dcterms:modified>
</cp:coreProperties>
</file>